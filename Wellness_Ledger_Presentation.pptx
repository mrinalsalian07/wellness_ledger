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embeddedFontLst>
    <p:embeddedFont>
      <p:font typeface="DM Sans" pitchFamily="34" charset="0"/>
      <p:regular r:id="rId17"/>
      <p:bold r:id="rId18"/>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 Id="rId17" Type="http://schemas.openxmlformats.org/officeDocument/2006/relationships/font" Target="fonts/font1.fntdata"/><Relationship Id="rId18" Type="http://schemas.openxmlformats.org/officeDocument/2006/relationships/font" Target="fonts/font2.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Opening: Wellness Ledger is an explainable personal financial-wellness assessment prototype. It is trained on synthetic examples, so its score is not a validated prediction of real financial outcomes.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Problem framing: financial information can be scattered across income, spending, savings and debt. The project combines a monthly snapshot with an explanation and practical next steps.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Walk through the workflow: monthly check-in → estimated score out of 100 → SHAP-based factors → suggestions. Other capabilities include goals, monthly history and temporary what-if scenarios.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Pipeline: the training script generates 5,000 synthetic records, engineers seven model features, creates a rule-based reference score, trains a Random Forest (300 trees, max depth 8, minimum leaf size 5), and uses SHAP to explain predictions. In the app, a separate guardrail caps the score at 49 when expenses exceed income.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Be precise: the seven model features are savings cushion (called savings_rate in the current training script), debt-to-income, debt-repayment burden, expense-to-income, emergency-fund months, discretionary-spending share and income stability. Age and dependents are collected/stored but are not model features. The rule-based target weights are 25, 20, 20, 15, 12, 3 and 5 points respectively. Targets are illustrative rules of thumb.</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Evaluation: hold-out set has 1,000 synthetic records. Random Forest hold-out MAE 2.605, RMSE 3.316, R² 0.9447; 5-fold CV R² 0.9458 ± 0.0023. The rule-based formula (R² 0.9683) and Gradient Boosting (R² 0.9617) perform better on this synthetic target. Be transparent: these metrics show how closely predictions match formula-generated labels, not real-world validity.</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SHAP values describe which features contribute to a prediction relative to the model's baseline. They do not prove causality. The 38% repayment-burden example is illustrative; in the live app, show the factors and their rule-of-thumb status.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Demo flow: use a demo account and fictional data. Show Dashboard, one next-step recommendation, a temporary what-if scenario, Monthly Check-in, History/CSV, Goals and Guide. Choose a month from the calendar; check-ins are stored by month. If expenses exceed income, the score is capped at 49.</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Safeguards: expenses above income cap the score at 49; the app warns when the model estimate differs from the deterministic rule score by at least 12 points; input checks are applied; five failed logins trigger a five-minute in-memory lockout, which resets when the app process restarts. Passwords use salted PBKDF2-HMAC-SHA256 hashes. Optional email OTP recovery expires after 10 minutes and allows up to five verification attempts, but requires Gmail app-password configuration. Users can download check-ins as CSV or delete their account, check-ins and goals. Data is stored locally; signup does not verify Gmail ownership. This is not production-grade security.</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Conclusion: the current system is an educational prototype. Real-world validation would require suitable real data with appropriate labels, careful privacy protections and testing across different financial circumstances. Global Findex is only a possible research lead; confirm access and whether its variables can support the intended target before promising it as a direct replacement. Future features could include imports, additional languages and mobile support.</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5F1E8"/>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27720"/>
            <a:ext cx="10566400" cy="502841"/>
          </a:xfrm>
          <a:prstGeom prst="rect">
            <a:avLst/>
          </a:prstGeom>
          <a:noFill/>
          <a:ln/>
        </p:spPr>
        <p:txBody>
          <a:bodyPr wrap="square" lIns="0" tIns="0" rIns="0" bIns="0" rtlCol="0" anchor="t"/>
          <a:lstStyle>
            <a:lvl1pPr algn="l" indent="0" marL="0">
              <a:lnSpc>
                <a:spcPct val="115000"/>
              </a:lnSpc>
              <a:buNone/>
              <a:defRPr lang="en-US" sz="3600" dirty="0">
                <a:solidFill>
                  <a:srgbClr val="18313B"/>
                </a:solidFill>
                <a:latin typeface="DM Serif Display" pitchFamily="34" charset="0"/>
                <a:ea typeface="DM Serif Display" pitchFamily="34" charset="-122"/>
                <a:cs typeface="DM Serif Display"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1935361"/>
            <a:ext cx="10566400" cy="4109839"/>
          </a:xfrm>
          <a:prstGeom prst="rect">
            <a:avLst/>
          </a:prstGeom>
          <a:noFill/>
          <a:ln/>
        </p:spPr>
        <p:txBody>
          <a:bodyPr wrap="square" lIns="0" tIns="0" rIns="0" bIns="0" rtlCol="0" anchor="t"/>
          <a:lstStyle>
            <a:lvl1pPr algn="l" indent="0" marL="0">
              <a:lnSpc>
                <a:spcPct val="140000"/>
              </a:lnSpc>
              <a:buNone/>
              <a:defRPr lang="en-US" sz="1600" dirty="0">
                <a:solidFill>
                  <a:srgbClr val="18313B"/>
                </a:solidFill>
                <a:latin typeface="DM Sans" pitchFamily="34" charset="0"/>
                <a:ea typeface="DM Sans" pitchFamily="34" charset="-122"/>
                <a:cs typeface="DM Sans"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5F1E8"/>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27720"/>
            <a:ext cx="10566400" cy="502841"/>
          </a:xfrm>
          <a:prstGeom prst="rect">
            <a:avLst/>
          </a:prstGeom>
          <a:noFill/>
          <a:ln/>
        </p:spPr>
        <p:txBody>
          <a:bodyPr wrap="square" lIns="0" tIns="0" rIns="0" bIns="0" rtlCol="0" anchor="t"/>
          <a:lstStyle>
            <a:lvl1pPr algn="l" indent="0" marL="0">
              <a:lnSpc>
                <a:spcPct val="115000"/>
              </a:lnSpc>
              <a:buNone/>
              <a:defRPr lang="en-US" sz="3600" dirty="0">
                <a:solidFill>
                  <a:srgbClr val="18313B"/>
                </a:solidFill>
                <a:latin typeface="DM Serif Display" pitchFamily="34" charset="0"/>
                <a:ea typeface="DM Serif Display" pitchFamily="34" charset="-122"/>
                <a:cs typeface="DM Serif Display"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800" y="1935361"/>
            <a:ext cx="10566400" cy="4109839"/>
          </a:xfrm>
          <a:prstGeom prst="rect">
            <a:avLst/>
          </a:prstGeom>
          <a:noFill/>
          <a:ln/>
        </p:spPr>
        <p:txBody>
          <a:bodyPr wrap="square" lIns="0" tIns="0" rIns="0" bIns="0" rtlCol="0" anchor="t"/>
          <a:lstStyle>
            <a:lvl1pPr algn="l" indent="0" marL="0">
              <a:lnSpc>
                <a:spcPct val="140000"/>
              </a:lnSpc>
              <a:buNone/>
              <a:defRPr lang="en-US" sz="1600" dirty="0">
                <a:solidFill>
                  <a:srgbClr val="18313B"/>
                </a:solidFill>
                <a:latin typeface="DM Sans" pitchFamily="34" charset="0"/>
                <a:ea typeface="DM Sans" pitchFamily="34" charset="-122"/>
                <a:cs typeface="DM Sans"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slideLayout" Target="../slideLayouts/slideLayout2.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8313B"/>
        </a:solidFill>
      </p:bgPr>
    </p:bg>
    <p:spTree>
      <p:nvGrpSpPr>
        <p:cNvPr id="1" name=""/>
        <p:cNvGrpSpPr/>
        <p:nvPr/>
      </p:nvGrpSpPr>
      <p:grpSpPr>
        <a:xfrm>
          <a:off x="0" y="0"/>
          <a:ext cx="0" cy="0"/>
          <a:chOff x="0" y="0"/>
          <a:chExt cx="0" cy="0"/>
        </a:xfrm>
      </p:grpSpPr>
      <p:sp>
        <p:nvSpPr>
          <p:cNvPr id="2" name="Text 0"/>
          <p:cNvSpPr/>
          <p:nvPr/>
        </p:nvSpPr>
        <p:spPr>
          <a:xfrm>
            <a:off x="812800" y="812800"/>
            <a:ext cx="10883392" cy="274241"/>
          </a:xfrm>
          <a:prstGeom prst="rect">
            <a:avLst/>
          </a:prstGeom>
          <a:noFill/>
          <a:ln/>
        </p:spPr>
        <p:txBody>
          <a:bodyPr wrap="square" lIns="0" tIns="0" rIns="0" bIns="0" rtlCol="0" anchor="t">
            <a:normAutofit/>
          </a:bodyPr>
          <a:lstStyle/>
          <a:p>
            <a:pPr algn="l" indent="0" marL="0">
              <a:lnSpc>
                <a:spcPts val="1960"/>
              </a:lnSpc>
              <a:buNone/>
            </a:pPr>
            <a:r>
              <a:rPr lang="en-US" sz="1400" b="1" spc="200" kern="0" dirty="0">
                <a:solidFill>
                  <a:srgbClr val="CFA859"/>
                </a:solidFill>
                <a:latin typeface="DM Sans" pitchFamily="34" charset="0"/>
                <a:ea typeface="DM Sans" pitchFamily="34" charset="-122"/>
                <a:cs typeface="DM Sans" pitchFamily="34" charset="-120"/>
              </a:rPr>
              <a:t>EXPLAINABLE FINANCIAL WELLNESS</a:t>
            </a:r>
            <a:endParaRPr lang="en-US" sz="1400" dirty="0"/>
          </a:p>
        </p:txBody>
      </p:sp>
      <p:sp>
        <p:nvSpPr>
          <p:cNvPr id="3" name="Text 1"/>
          <p:cNvSpPr/>
          <p:nvPr>
            <p:ph type="title"/>
          </p:nvPr>
        </p:nvSpPr>
        <p:spPr>
          <a:xfrm>
            <a:off x="812800" y="1911350"/>
            <a:ext cx="6540500" cy="2159000"/>
          </a:xfrm>
          <a:prstGeom prst="rect">
            <a:avLst/>
          </a:prstGeom>
          <a:noFill/>
          <a:ln/>
        </p:spPr>
        <p:txBody>
          <a:bodyPr wrap="square" lIns="0" tIns="0" rIns="0" bIns="0" rtlCol="0" anchor="t">
            <a:normAutofit/>
          </a:bodyPr>
          <a:lstStyle/>
          <a:p>
            <a:pPr algn="l" indent="0" marL="0">
              <a:lnSpc>
                <a:spcPts val="8400"/>
              </a:lnSpc>
              <a:buNone/>
            </a:pPr>
            <a:r>
              <a:rPr lang="en-US" sz="8000" b="0" i="0" dirty="0">
                <a:solidFill>
                  <a:srgbClr val="F5F1E8"/>
                </a:solidFill>
                <a:latin typeface="DM Serif Display" pitchFamily="18" charset="0"/>
                <a:ea typeface="DM Serif Display" pitchFamily="18" charset="-122"/>
                <a:cs typeface="DM Serif Display" pitchFamily="18" charset="-120"/>
              </a:rPr>
              <a:t>Wellness Ledger</a:t>
            </a:r>
            <a:endParaRPr lang="en-US" sz="8000" dirty="0"/>
          </a:p>
        </p:txBody>
      </p:sp>
      <p:sp>
        <p:nvSpPr>
          <p:cNvPr id="4" name="Text 2"/>
          <p:cNvSpPr/>
          <p:nvPr/>
        </p:nvSpPr>
        <p:spPr>
          <a:xfrm>
            <a:off x="812800" y="4248150"/>
            <a:ext cx="6540500" cy="723900"/>
          </a:xfrm>
          <a:prstGeom prst="rect">
            <a:avLst/>
          </a:prstGeom>
          <a:noFill/>
          <a:ln/>
        </p:spPr>
        <p:txBody>
          <a:bodyPr wrap="square" lIns="0" tIns="0" rIns="0" bIns="0" rtlCol="0" anchor="t">
            <a:normAutofit/>
          </a:bodyPr>
          <a:lstStyle/>
          <a:p>
            <a:pPr algn="l" indent="0" marL="0">
              <a:lnSpc>
                <a:spcPts val="2750"/>
              </a:lnSpc>
              <a:buNone/>
            </a:pPr>
            <a:r>
              <a:rPr lang="en-US" sz="2200" dirty="0">
                <a:solidFill>
                  <a:srgbClr val="CFD6D2"/>
                </a:solidFill>
                <a:latin typeface="DM Sans" pitchFamily="34" charset="0"/>
                <a:ea typeface="DM Sans" pitchFamily="34" charset="-122"/>
                <a:cs typeface="DM Sans" pitchFamily="34" charset="-120"/>
              </a:rPr>
              <a:t>An Explainable Personal Financial Wellness Assessment Tool</a:t>
            </a:r>
            <a:endParaRPr lang="en-US" sz="2200" dirty="0"/>
          </a:p>
        </p:txBody>
      </p:sp>
      <p:sp>
        <p:nvSpPr>
          <p:cNvPr id="5" name="Text 3"/>
          <p:cNvSpPr/>
          <p:nvPr/>
        </p:nvSpPr>
        <p:spPr>
          <a:xfrm>
            <a:off x="812800" y="5796359"/>
            <a:ext cx="10883392"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CFD6D2"/>
                </a:solidFill>
                <a:latin typeface="DM Sans" pitchFamily="34" charset="0"/>
                <a:ea typeface="DM Sans" pitchFamily="34" charset="-122"/>
                <a:cs typeface="DM Sans" pitchFamily="34" charset="-120"/>
              </a:rPr>
              <a:t>Mrinal Salian  ·  TDS2627047  ·  TYBSc (Data Science)</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1E8"/>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3F6549"/>
                </a:solidFill>
                <a:latin typeface="DM Sans" pitchFamily="34" charset="0"/>
                <a:ea typeface="DM Sans" pitchFamily="34" charset="-122"/>
                <a:cs typeface="DM Sans" pitchFamily="34" charset="-120"/>
              </a:rPr>
              <a:t>THE PROBLEM</a:t>
            </a:r>
            <a:endParaRPr lang="en-US" sz="1200" dirty="0"/>
          </a:p>
        </p:txBody>
      </p:sp>
      <p:sp>
        <p:nvSpPr>
          <p:cNvPr id="3" name="Text 1"/>
          <p:cNvSpPr/>
          <p:nvPr>
            <p:ph type="title"/>
          </p:nvPr>
        </p:nvSpPr>
        <p:spPr>
          <a:xfrm>
            <a:off x="812800" y="1127720"/>
            <a:ext cx="11379200" cy="528241"/>
          </a:xfrm>
          <a:prstGeom prst="rect">
            <a:avLst/>
          </a:prstGeom>
          <a:noFill/>
          <a:ln/>
        </p:spPr>
        <p:txBody>
          <a:bodyPr wrap="square" lIns="0" tIns="0" rIns="0" bIns="0" rtlCol="0" anchor="t">
            <a:normAutofit/>
          </a:bodyPr>
          <a:lstStyle/>
          <a:p>
            <a:pPr algn="l" indent="0" marL="0">
              <a:lnSpc>
                <a:spcPts val="3960"/>
              </a:lnSpc>
              <a:buNone/>
            </a:pPr>
            <a:r>
              <a:rPr lang="en-US" sz="3600" b="0" i="0" dirty="0">
                <a:solidFill>
                  <a:srgbClr val="18313B"/>
                </a:solidFill>
                <a:latin typeface="DM Serif Display" pitchFamily="18" charset="0"/>
                <a:ea typeface="DM Serif Display" pitchFamily="18" charset="-122"/>
                <a:cs typeface="DM Serif Display" pitchFamily="18" charset="-120"/>
              </a:rPr>
              <a:t>Most people cannot tell if their finances are healthy</a:t>
            </a:r>
            <a:endParaRPr lang="en-US" sz="3600" dirty="0"/>
          </a:p>
        </p:txBody>
      </p:sp>
      <p:sp>
        <p:nvSpPr>
          <p:cNvPr id="4" name="Shape 2"/>
          <p:cNvSpPr/>
          <p:nvPr/>
        </p:nvSpPr>
        <p:spPr>
          <a:xfrm>
            <a:off x="815975" y="1938536"/>
            <a:ext cx="3380284" cy="2035770"/>
          </a:xfrm>
          <a:prstGeom prst="roundRect">
            <a:avLst>
              <a:gd name="adj" fmla="val 4835"/>
            </a:avLst>
          </a:prstGeom>
          <a:solidFill>
            <a:srgbClr val="FFFDF8"/>
          </a:solidFill>
          <a:ln w="6350">
            <a:solidFill>
              <a:srgbClr val="DDD8CC"/>
            </a:solidFill>
            <a:prstDash val="solid"/>
          </a:ln>
        </p:spPr>
      </p:sp>
      <p:sp>
        <p:nvSpPr>
          <p:cNvPr id="5" name="Text 3"/>
          <p:cNvSpPr/>
          <p:nvPr/>
        </p:nvSpPr>
        <p:spPr>
          <a:xfrm>
            <a:off x="1073150" y="2195711"/>
            <a:ext cx="2951912"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3F6549"/>
                </a:solidFill>
                <a:latin typeface="DM Sans" pitchFamily="34" charset="0"/>
                <a:ea typeface="DM Sans" pitchFamily="34" charset="-122"/>
                <a:cs typeface="DM Sans" pitchFamily="34" charset="-120"/>
              </a:rPr>
              <a:t>01</a:t>
            </a:r>
            <a:endParaRPr lang="en-US" sz="1200" dirty="0"/>
          </a:p>
        </p:txBody>
      </p:sp>
      <p:sp>
        <p:nvSpPr>
          <p:cNvPr id="6" name="Text 4"/>
          <p:cNvSpPr/>
          <p:nvPr/>
        </p:nvSpPr>
        <p:spPr>
          <a:xfrm>
            <a:off x="1073150" y="2510631"/>
            <a:ext cx="2951912"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8313B"/>
                </a:solidFill>
                <a:latin typeface="DM Sans" pitchFamily="34" charset="0"/>
                <a:ea typeface="DM Sans" pitchFamily="34" charset="-122"/>
                <a:cs typeface="DM Sans" pitchFamily="34" charset="-120"/>
              </a:rPr>
              <a:t>Scattered</a:t>
            </a:r>
            <a:endParaRPr lang="en-US" sz="2000" dirty="0"/>
          </a:p>
        </p:txBody>
      </p:sp>
      <p:sp>
        <p:nvSpPr>
          <p:cNvPr id="7" name="Text 5"/>
          <p:cNvSpPr/>
          <p:nvPr/>
        </p:nvSpPr>
        <p:spPr>
          <a:xfrm>
            <a:off x="1073150" y="2917031"/>
            <a:ext cx="2951912"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557"/>
                </a:solidFill>
                <a:latin typeface="DM Sans" pitchFamily="34" charset="0"/>
                <a:ea typeface="DM Sans" pitchFamily="34" charset="-122"/>
                <a:cs typeface="DM Sans" pitchFamily="34" charset="-120"/>
              </a:rPr>
              <a:t>Income, debt, savings and spending are tracked in separate places.</a:t>
            </a:r>
            <a:endParaRPr lang="en-US" sz="1500" dirty="0"/>
          </a:p>
        </p:txBody>
      </p:sp>
      <p:sp>
        <p:nvSpPr>
          <p:cNvPr id="8" name="Shape 6"/>
          <p:cNvSpPr/>
          <p:nvPr/>
        </p:nvSpPr>
        <p:spPr>
          <a:xfrm>
            <a:off x="4405809" y="1938536"/>
            <a:ext cx="3380383" cy="2035770"/>
          </a:xfrm>
          <a:prstGeom prst="roundRect">
            <a:avLst>
              <a:gd name="adj" fmla="val 4835"/>
            </a:avLst>
          </a:prstGeom>
          <a:solidFill>
            <a:srgbClr val="FFFDF8"/>
          </a:solidFill>
          <a:ln w="6350">
            <a:solidFill>
              <a:srgbClr val="DDD8CC"/>
            </a:solidFill>
            <a:prstDash val="solid"/>
          </a:ln>
        </p:spPr>
      </p:sp>
      <p:sp>
        <p:nvSpPr>
          <p:cNvPr id="9" name="Text 7"/>
          <p:cNvSpPr/>
          <p:nvPr/>
        </p:nvSpPr>
        <p:spPr>
          <a:xfrm>
            <a:off x="4662984" y="2195711"/>
            <a:ext cx="2952014"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3F6549"/>
                </a:solidFill>
                <a:latin typeface="DM Sans" pitchFamily="34" charset="0"/>
                <a:ea typeface="DM Sans" pitchFamily="34" charset="-122"/>
                <a:cs typeface="DM Sans" pitchFamily="34" charset="-120"/>
              </a:rPr>
              <a:t>02</a:t>
            </a:r>
            <a:endParaRPr lang="en-US" sz="1200" dirty="0"/>
          </a:p>
        </p:txBody>
      </p:sp>
      <p:sp>
        <p:nvSpPr>
          <p:cNvPr id="10" name="Text 8"/>
          <p:cNvSpPr/>
          <p:nvPr/>
        </p:nvSpPr>
        <p:spPr>
          <a:xfrm>
            <a:off x="4662984" y="2510631"/>
            <a:ext cx="2952014"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8313B"/>
                </a:solidFill>
                <a:latin typeface="DM Sans" pitchFamily="34" charset="0"/>
                <a:ea typeface="DM Sans" pitchFamily="34" charset="-122"/>
                <a:cs typeface="DM Sans" pitchFamily="34" charset="-120"/>
              </a:rPr>
              <a:t>Unexplained</a:t>
            </a:r>
            <a:endParaRPr lang="en-US" sz="2000" dirty="0"/>
          </a:p>
        </p:txBody>
      </p:sp>
      <p:sp>
        <p:nvSpPr>
          <p:cNvPr id="11" name="Text 9"/>
          <p:cNvSpPr/>
          <p:nvPr/>
        </p:nvSpPr>
        <p:spPr>
          <a:xfrm>
            <a:off x="4662984" y="2917031"/>
            <a:ext cx="2952014"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557"/>
                </a:solidFill>
                <a:latin typeface="DM Sans" pitchFamily="34" charset="0"/>
                <a:ea typeface="DM Sans" pitchFamily="34" charset="-122"/>
                <a:cs typeface="DM Sans" pitchFamily="34" charset="-120"/>
              </a:rPr>
              <a:t>Existing apps give a number or a chart, but rarely say why it is what it is.</a:t>
            </a:r>
            <a:endParaRPr lang="en-US" sz="1500" dirty="0"/>
          </a:p>
        </p:txBody>
      </p:sp>
      <p:sp>
        <p:nvSpPr>
          <p:cNvPr id="12" name="Shape 10"/>
          <p:cNvSpPr/>
          <p:nvPr/>
        </p:nvSpPr>
        <p:spPr>
          <a:xfrm>
            <a:off x="7995741" y="1938536"/>
            <a:ext cx="3380284" cy="2035770"/>
          </a:xfrm>
          <a:prstGeom prst="roundRect">
            <a:avLst>
              <a:gd name="adj" fmla="val 4835"/>
            </a:avLst>
          </a:prstGeom>
          <a:solidFill>
            <a:srgbClr val="FFFDF8"/>
          </a:solidFill>
          <a:ln w="6350">
            <a:solidFill>
              <a:srgbClr val="DDD8CC"/>
            </a:solidFill>
            <a:prstDash val="solid"/>
          </a:ln>
        </p:spPr>
      </p:sp>
      <p:sp>
        <p:nvSpPr>
          <p:cNvPr id="13" name="Text 11"/>
          <p:cNvSpPr/>
          <p:nvPr/>
        </p:nvSpPr>
        <p:spPr>
          <a:xfrm>
            <a:off x="8252916" y="2195711"/>
            <a:ext cx="2951912"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3F6549"/>
                </a:solidFill>
                <a:latin typeface="DM Sans" pitchFamily="34" charset="0"/>
                <a:ea typeface="DM Sans" pitchFamily="34" charset="-122"/>
                <a:cs typeface="DM Sans" pitchFamily="34" charset="-120"/>
              </a:rPr>
              <a:t>03</a:t>
            </a:r>
            <a:endParaRPr lang="en-US" sz="1200" dirty="0"/>
          </a:p>
        </p:txBody>
      </p:sp>
      <p:sp>
        <p:nvSpPr>
          <p:cNvPr id="14" name="Text 12"/>
          <p:cNvSpPr/>
          <p:nvPr/>
        </p:nvSpPr>
        <p:spPr>
          <a:xfrm>
            <a:off x="8252916" y="2510631"/>
            <a:ext cx="2951912"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8313B"/>
                </a:solidFill>
                <a:latin typeface="DM Sans" pitchFamily="34" charset="0"/>
                <a:ea typeface="DM Sans" pitchFamily="34" charset="-122"/>
                <a:cs typeface="DM Sans" pitchFamily="34" charset="-120"/>
              </a:rPr>
              <a:t>Not actionable</a:t>
            </a:r>
            <a:endParaRPr lang="en-US" sz="2000" dirty="0"/>
          </a:p>
        </p:txBody>
      </p:sp>
      <p:sp>
        <p:nvSpPr>
          <p:cNvPr id="15" name="Text 13"/>
          <p:cNvSpPr/>
          <p:nvPr/>
        </p:nvSpPr>
        <p:spPr>
          <a:xfrm>
            <a:off x="8252916" y="2917031"/>
            <a:ext cx="2951912"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557"/>
                </a:solidFill>
                <a:latin typeface="DM Sans" pitchFamily="34" charset="0"/>
                <a:ea typeface="DM Sans" pitchFamily="34" charset="-122"/>
                <a:cs typeface="DM Sans" pitchFamily="34" charset="-120"/>
              </a:rPr>
              <a:t>Few tools tell you what to change next to improve your position.</a:t>
            </a:r>
            <a:endParaRPr lang="en-US" sz="1500" dirty="0"/>
          </a:p>
        </p:txBody>
      </p:sp>
      <p:sp>
        <p:nvSpPr>
          <p:cNvPr id="16" name="Text 14"/>
          <p:cNvSpPr/>
          <p:nvPr/>
        </p:nvSpPr>
        <p:spPr>
          <a:xfrm>
            <a:off x="812800" y="4968280"/>
            <a:ext cx="10566400" cy="873720"/>
          </a:xfrm>
          <a:prstGeom prst="roundRect">
            <a:avLst>
              <a:gd name="adj" fmla="val 11628"/>
            </a:avLst>
          </a:prstGeom>
          <a:solidFill>
            <a:srgbClr val="18313B"/>
          </a:solidFill>
          <a:ln/>
        </p:spPr>
        <p:txBody>
          <a:bodyPr wrap="square" lIns="275042" tIns="224242" rIns="0" bIns="198842" rtlCol="0" anchor="t">
            <a:normAutofit/>
          </a:bodyPr>
          <a:lstStyle/>
          <a:p>
            <a:pPr algn="l" indent="0" marL="0">
              <a:lnSpc>
                <a:spcPts val="2880"/>
              </a:lnSpc>
              <a:buNone/>
            </a:pPr>
            <a:r>
              <a:rPr lang="en-US" sz="2400" dirty="0">
                <a:solidFill>
                  <a:srgbClr val="F5F1E8"/>
                </a:solidFill>
                <a:latin typeface="DM Serif Display" pitchFamily="18" charset="0"/>
                <a:ea typeface="DM Serif Display" pitchFamily="18" charset="-122"/>
                <a:cs typeface="DM Serif Display" pitchFamily="18" charset="-120"/>
              </a:rPr>
              <a:t>A score without a reason isn’t useful. </a:t>
            </a:r>
            <a:r>
              <a:rPr lang="en-US" sz="2400" dirty="0">
                <a:solidFill>
                  <a:srgbClr val="CFA859"/>
                </a:solidFill>
                <a:latin typeface="DM Serif Display" pitchFamily="18" charset="0"/>
                <a:ea typeface="DM Serif Display" pitchFamily="18" charset="-122"/>
                <a:cs typeface="DM Serif Display" pitchFamily="18" charset="-120"/>
              </a:rPr>
              <a:t>We built one that explains itself.</a:t>
            </a:r>
            <a:endParaRPr lang="en-US" sz="2400" dirty="0"/>
          </a:p>
        </p:txBody>
      </p:sp>
      <p:sp>
        <p:nvSpPr>
          <p:cNvPr id="17" name="Text 15"/>
          <p:cNvSpPr/>
          <p:nvPr/>
        </p:nvSpPr>
        <p:spPr>
          <a:xfrm>
            <a:off x="812800" y="6238280"/>
            <a:ext cx="39243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2665F"/>
                </a:solidFill>
                <a:latin typeface="DM Sans" pitchFamily="34" charset="0"/>
                <a:ea typeface="DM Sans" pitchFamily="34" charset="-122"/>
                <a:cs typeface="DM Sans" pitchFamily="34" charset="-120"/>
              </a:rPr>
              <a:t>Wellness Ledger</a:t>
            </a:r>
            <a:endParaRPr lang="en-US" sz="1200" dirty="0"/>
          </a:p>
        </p:txBody>
      </p:sp>
      <p:sp>
        <p:nvSpPr>
          <p:cNvPr id="18" name="Text 16"/>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2665F"/>
                </a:solidFill>
                <a:latin typeface="DM Sans" pitchFamily="34" charset="0"/>
                <a:ea typeface="DM Sans" pitchFamily="34" charset="-122"/>
                <a:cs typeface="DM Sans" pitchFamily="34" charset="-120"/>
              </a:rPr>
              <a:t>02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1E8"/>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3F6549"/>
                </a:solidFill>
                <a:latin typeface="DM Sans" pitchFamily="34" charset="0"/>
                <a:ea typeface="DM Sans" pitchFamily="34" charset="-122"/>
                <a:cs typeface="DM Sans" pitchFamily="34" charset="-120"/>
              </a:rPr>
              <a:t>WHAT IT DOES</a:t>
            </a:r>
            <a:endParaRPr lang="en-US" sz="1200" dirty="0"/>
          </a:p>
        </p:txBody>
      </p:sp>
      <p:sp>
        <p:nvSpPr>
          <p:cNvPr id="3" name="Text 1"/>
          <p:cNvSpPr/>
          <p:nvPr>
            <p:ph type="title"/>
          </p:nvPr>
        </p:nvSpPr>
        <p:spPr>
          <a:xfrm>
            <a:off x="812800" y="112772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0" i="0" dirty="0">
                <a:solidFill>
                  <a:srgbClr val="18313B"/>
                </a:solidFill>
                <a:latin typeface="DM Serif Display" pitchFamily="18" charset="0"/>
                <a:ea typeface="DM Serif Display" pitchFamily="18" charset="-122"/>
                <a:cs typeface="DM Serif Display" pitchFamily="18" charset="-120"/>
              </a:rPr>
              <a:t>From monthly check-in to clear next steps</a:t>
            </a:r>
            <a:endParaRPr lang="en-US" sz="3600" dirty="0"/>
          </a:p>
        </p:txBody>
      </p:sp>
      <p:sp>
        <p:nvSpPr>
          <p:cNvPr id="4" name="Shape 2"/>
          <p:cNvSpPr/>
          <p:nvPr/>
        </p:nvSpPr>
        <p:spPr>
          <a:xfrm>
            <a:off x="812800" y="1935361"/>
            <a:ext cx="2527300" cy="2224683"/>
          </a:xfrm>
          <a:prstGeom prst="roundRect">
            <a:avLst>
              <a:gd name="adj" fmla="val 4567"/>
            </a:avLst>
          </a:prstGeom>
          <a:solidFill>
            <a:srgbClr val="18313B"/>
          </a:solidFill>
          <a:ln/>
        </p:spPr>
      </p:sp>
      <p:sp>
        <p:nvSpPr>
          <p:cNvPr id="5" name="Text 3"/>
          <p:cNvSpPr/>
          <p:nvPr/>
        </p:nvSpPr>
        <p:spPr>
          <a:xfrm>
            <a:off x="1066800" y="2189361"/>
            <a:ext cx="2079879"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CFA859"/>
                </a:solidFill>
                <a:latin typeface="DM Sans" pitchFamily="34" charset="0"/>
                <a:ea typeface="DM Sans" pitchFamily="34" charset="-122"/>
                <a:cs typeface="DM Sans" pitchFamily="34" charset="-120"/>
              </a:rPr>
              <a:t>STEP 1</a:t>
            </a:r>
            <a:endParaRPr lang="en-US" sz="1200" dirty="0"/>
          </a:p>
        </p:txBody>
      </p:sp>
      <p:sp>
        <p:nvSpPr>
          <p:cNvPr id="6" name="Text 4"/>
          <p:cNvSpPr/>
          <p:nvPr/>
        </p:nvSpPr>
        <p:spPr>
          <a:xfrm>
            <a:off x="1066800" y="2504281"/>
            <a:ext cx="2079879"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F5F1E8"/>
                </a:solidFill>
                <a:latin typeface="DM Sans" pitchFamily="34" charset="0"/>
                <a:ea typeface="DM Sans" pitchFamily="34" charset="-122"/>
                <a:cs typeface="DM Sans" pitchFamily="34" charset="-120"/>
              </a:rPr>
              <a:t>Check-in</a:t>
            </a:r>
            <a:endParaRPr lang="en-US" sz="2000" dirty="0"/>
          </a:p>
        </p:txBody>
      </p:sp>
      <p:sp>
        <p:nvSpPr>
          <p:cNvPr id="7" name="Text 5"/>
          <p:cNvSpPr/>
          <p:nvPr/>
        </p:nvSpPr>
        <p:spPr>
          <a:xfrm>
            <a:off x="1066800" y="2910681"/>
            <a:ext cx="2079879" cy="1020763"/>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CFD6D2"/>
                </a:solidFill>
                <a:latin typeface="DM Sans" pitchFamily="34" charset="0"/>
                <a:ea typeface="DM Sans" pitchFamily="34" charset="-122"/>
                <a:cs typeface="DM Sans" pitchFamily="34" charset="-120"/>
              </a:rPr>
              <a:t>Record a monthly snapshot of income, spending, savings and debt.</a:t>
            </a:r>
            <a:endParaRPr lang="en-US" sz="1400" dirty="0"/>
          </a:p>
        </p:txBody>
      </p:sp>
      <p:sp>
        <p:nvSpPr>
          <p:cNvPr id="8" name="Shape 6"/>
          <p:cNvSpPr/>
          <p:nvPr/>
        </p:nvSpPr>
        <p:spPr>
          <a:xfrm>
            <a:off x="3492500" y="1935361"/>
            <a:ext cx="2527300" cy="2224683"/>
          </a:xfrm>
          <a:prstGeom prst="roundRect">
            <a:avLst>
              <a:gd name="adj" fmla="val 4567"/>
            </a:avLst>
          </a:prstGeom>
          <a:solidFill>
            <a:srgbClr val="18313B"/>
          </a:solidFill>
          <a:ln/>
        </p:spPr>
      </p:sp>
      <p:sp>
        <p:nvSpPr>
          <p:cNvPr id="9" name="Text 7"/>
          <p:cNvSpPr/>
          <p:nvPr/>
        </p:nvSpPr>
        <p:spPr>
          <a:xfrm>
            <a:off x="3746500" y="2189361"/>
            <a:ext cx="2079879"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CFA859"/>
                </a:solidFill>
                <a:latin typeface="DM Sans" pitchFamily="34" charset="0"/>
                <a:ea typeface="DM Sans" pitchFamily="34" charset="-122"/>
                <a:cs typeface="DM Sans" pitchFamily="34" charset="-120"/>
              </a:rPr>
              <a:t>STEP 2</a:t>
            </a:r>
            <a:endParaRPr lang="en-US" sz="1200" dirty="0"/>
          </a:p>
        </p:txBody>
      </p:sp>
      <p:sp>
        <p:nvSpPr>
          <p:cNvPr id="10" name="Text 8"/>
          <p:cNvSpPr/>
          <p:nvPr/>
        </p:nvSpPr>
        <p:spPr>
          <a:xfrm>
            <a:off x="3746500" y="2504281"/>
            <a:ext cx="2079879"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F5F1E8"/>
                </a:solidFill>
                <a:latin typeface="DM Sans" pitchFamily="34" charset="0"/>
                <a:ea typeface="DM Sans" pitchFamily="34" charset="-122"/>
                <a:cs typeface="DM Sans" pitchFamily="34" charset="-120"/>
              </a:rPr>
              <a:t>Score</a:t>
            </a:r>
            <a:endParaRPr lang="en-US" sz="2000" dirty="0"/>
          </a:p>
        </p:txBody>
      </p:sp>
      <p:sp>
        <p:nvSpPr>
          <p:cNvPr id="11" name="Text 9"/>
          <p:cNvSpPr/>
          <p:nvPr/>
        </p:nvSpPr>
        <p:spPr>
          <a:xfrm>
            <a:off x="3746500" y="2910681"/>
            <a:ext cx="2079879" cy="771922"/>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CFD6D2"/>
                </a:solidFill>
                <a:latin typeface="DM Sans" pitchFamily="34" charset="0"/>
                <a:ea typeface="DM Sans" pitchFamily="34" charset="-122"/>
                <a:cs typeface="DM Sans" pitchFamily="34" charset="-120"/>
              </a:rPr>
              <a:t>Get a wellness score out of 100 with a clear status band.</a:t>
            </a:r>
            <a:endParaRPr lang="en-US" sz="1400" dirty="0"/>
          </a:p>
        </p:txBody>
      </p:sp>
      <p:sp>
        <p:nvSpPr>
          <p:cNvPr id="12" name="Shape 10"/>
          <p:cNvSpPr/>
          <p:nvPr/>
        </p:nvSpPr>
        <p:spPr>
          <a:xfrm>
            <a:off x="6172200" y="1935361"/>
            <a:ext cx="2527300" cy="2224683"/>
          </a:xfrm>
          <a:prstGeom prst="roundRect">
            <a:avLst>
              <a:gd name="adj" fmla="val 4567"/>
            </a:avLst>
          </a:prstGeom>
          <a:solidFill>
            <a:srgbClr val="18313B"/>
          </a:solidFill>
          <a:ln/>
        </p:spPr>
      </p:sp>
      <p:sp>
        <p:nvSpPr>
          <p:cNvPr id="13" name="Text 11"/>
          <p:cNvSpPr/>
          <p:nvPr/>
        </p:nvSpPr>
        <p:spPr>
          <a:xfrm>
            <a:off x="6426200" y="2189361"/>
            <a:ext cx="2079879"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CFA859"/>
                </a:solidFill>
                <a:latin typeface="DM Sans" pitchFamily="34" charset="0"/>
                <a:ea typeface="DM Sans" pitchFamily="34" charset="-122"/>
                <a:cs typeface="DM Sans" pitchFamily="34" charset="-120"/>
              </a:rPr>
              <a:t>STEP 3</a:t>
            </a:r>
            <a:endParaRPr lang="en-US" sz="1200" dirty="0"/>
          </a:p>
        </p:txBody>
      </p:sp>
      <p:sp>
        <p:nvSpPr>
          <p:cNvPr id="14" name="Text 12"/>
          <p:cNvSpPr/>
          <p:nvPr/>
        </p:nvSpPr>
        <p:spPr>
          <a:xfrm>
            <a:off x="6426200" y="2504281"/>
            <a:ext cx="2079879"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F5F1E8"/>
                </a:solidFill>
                <a:latin typeface="DM Sans" pitchFamily="34" charset="0"/>
                <a:ea typeface="DM Sans" pitchFamily="34" charset="-122"/>
                <a:cs typeface="DM Sans" pitchFamily="34" charset="-120"/>
              </a:rPr>
              <a:t>Reasons</a:t>
            </a:r>
            <a:endParaRPr lang="en-US" sz="2000" dirty="0"/>
          </a:p>
        </p:txBody>
      </p:sp>
      <p:sp>
        <p:nvSpPr>
          <p:cNvPr id="15" name="Text 13"/>
          <p:cNvSpPr/>
          <p:nvPr/>
        </p:nvSpPr>
        <p:spPr>
          <a:xfrm>
            <a:off x="6426200" y="2910681"/>
            <a:ext cx="2079879" cy="771922"/>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CFD6D2"/>
                </a:solidFill>
                <a:latin typeface="DM Sans" pitchFamily="34" charset="0"/>
                <a:ea typeface="DM Sans" pitchFamily="34" charset="-122"/>
                <a:cs typeface="DM Sans" pitchFamily="34" charset="-120"/>
              </a:rPr>
              <a:t>See the factors that pushed the score up or down.</a:t>
            </a:r>
            <a:endParaRPr lang="en-US" sz="1400" dirty="0"/>
          </a:p>
        </p:txBody>
      </p:sp>
      <p:sp>
        <p:nvSpPr>
          <p:cNvPr id="16" name="Shape 14"/>
          <p:cNvSpPr/>
          <p:nvPr/>
        </p:nvSpPr>
        <p:spPr>
          <a:xfrm>
            <a:off x="8851900" y="1935361"/>
            <a:ext cx="2527300" cy="2224683"/>
          </a:xfrm>
          <a:prstGeom prst="roundRect">
            <a:avLst>
              <a:gd name="adj" fmla="val 4567"/>
            </a:avLst>
          </a:prstGeom>
          <a:solidFill>
            <a:srgbClr val="18313B"/>
          </a:solidFill>
          <a:ln/>
        </p:spPr>
      </p:sp>
      <p:sp>
        <p:nvSpPr>
          <p:cNvPr id="17" name="Text 15"/>
          <p:cNvSpPr/>
          <p:nvPr/>
        </p:nvSpPr>
        <p:spPr>
          <a:xfrm>
            <a:off x="9105900" y="2189361"/>
            <a:ext cx="2079879"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CFA859"/>
                </a:solidFill>
                <a:latin typeface="DM Sans" pitchFamily="34" charset="0"/>
                <a:ea typeface="DM Sans" pitchFamily="34" charset="-122"/>
                <a:cs typeface="DM Sans" pitchFamily="34" charset="-120"/>
              </a:rPr>
              <a:t>STEP 4</a:t>
            </a:r>
            <a:endParaRPr lang="en-US" sz="1200" dirty="0"/>
          </a:p>
        </p:txBody>
      </p:sp>
      <p:sp>
        <p:nvSpPr>
          <p:cNvPr id="18" name="Text 16"/>
          <p:cNvSpPr/>
          <p:nvPr/>
        </p:nvSpPr>
        <p:spPr>
          <a:xfrm>
            <a:off x="9105900" y="2504281"/>
            <a:ext cx="2079879"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F5F1E8"/>
                </a:solidFill>
                <a:latin typeface="DM Sans" pitchFamily="34" charset="0"/>
                <a:ea typeface="DM Sans" pitchFamily="34" charset="-122"/>
                <a:cs typeface="DM Sans" pitchFamily="34" charset="-120"/>
              </a:rPr>
              <a:t>Next steps</a:t>
            </a:r>
            <a:endParaRPr lang="en-US" sz="2000" dirty="0"/>
          </a:p>
        </p:txBody>
      </p:sp>
      <p:sp>
        <p:nvSpPr>
          <p:cNvPr id="19" name="Text 17"/>
          <p:cNvSpPr/>
          <p:nvPr/>
        </p:nvSpPr>
        <p:spPr>
          <a:xfrm>
            <a:off x="9105900" y="2910681"/>
            <a:ext cx="2079879" cy="771922"/>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CFD6D2"/>
                </a:solidFill>
                <a:latin typeface="DM Sans" pitchFamily="34" charset="0"/>
                <a:ea typeface="DM Sans" pitchFamily="34" charset="-122"/>
                <a:cs typeface="DM Sans" pitchFamily="34" charset="-120"/>
              </a:rPr>
              <a:t>Follow personalised actions to improve the score.</a:t>
            </a:r>
            <a:endParaRPr lang="en-US" sz="1400" dirty="0"/>
          </a:p>
        </p:txBody>
      </p:sp>
      <p:sp>
        <p:nvSpPr>
          <p:cNvPr id="20" name="Text 18"/>
          <p:cNvSpPr/>
          <p:nvPr/>
        </p:nvSpPr>
        <p:spPr>
          <a:xfrm>
            <a:off x="812800" y="4464844"/>
            <a:ext cx="6205197"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557"/>
                </a:solidFill>
                <a:latin typeface="DM Sans" pitchFamily="34" charset="0"/>
                <a:ea typeface="DM Sans" pitchFamily="34" charset="-122"/>
                <a:cs typeface="DM Sans" pitchFamily="34" charset="-120"/>
              </a:rPr>
              <a:t>Also: compare months, track savings goals, and test temporary “what-if” changes.</a:t>
            </a:r>
            <a:endParaRPr lang="en-US" sz="1500" dirty="0"/>
          </a:p>
        </p:txBody>
      </p:sp>
      <p:sp>
        <p:nvSpPr>
          <p:cNvPr id="21" name="Text 19"/>
          <p:cNvSpPr/>
          <p:nvPr/>
        </p:nvSpPr>
        <p:spPr>
          <a:xfrm>
            <a:off x="7142063" y="4539754"/>
            <a:ext cx="882055" cy="383480"/>
          </a:xfrm>
          <a:prstGeom prst="roundRect">
            <a:avLst>
              <a:gd name="adj" fmla="val 50000"/>
            </a:avLst>
          </a:prstGeom>
          <a:solidFill>
            <a:srgbClr val="EEF0E7"/>
          </a:solidFill>
          <a:ln/>
        </p:spPr>
        <p:txBody>
          <a:bodyPr wrap="none" lIns="0" tIns="0" rIns="0" bIns="0" rtlCol="0" anchor="ctr">
            <a:normAutofit/>
          </a:bodyPr>
          <a:lstStyle/>
          <a:p>
            <a:pPr algn="ctr" indent="0" marL="0">
              <a:lnSpc>
                <a:spcPts val="1820"/>
              </a:lnSpc>
              <a:buNone/>
            </a:pPr>
            <a:r>
              <a:rPr lang="en-US" sz="1300" b="1" dirty="0">
                <a:solidFill>
                  <a:srgbClr val="18313B"/>
                </a:solidFill>
                <a:latin typeface="DM Sans" pitchFamily="34" charset="0"/>
                <a:ea typeface="DM Sans" pitchFamily="34" charset="-122"/>
                <a:cs typeface="DM Sans" pitchFamily="34" charset="-120"/>
              </a:rPr>
              <a:t>Python</a:t>
            </a:r>
            <a:endParaRPr lang="en-US" sz="1300" dirty="0"/>
          </a:p>
        </p:txBody>
      </p:sp>
      <p:sp>
        <p:nvSpPr>
          <p:cNvPr id="22" name="Text 20"/>
          <p:cNvSpPr/>
          <p:nvPr/>
        </p:nvSpPr>
        <p:spPr>
          <a:xfrm>
            <a:off x="8125718" y="4539754"/>
            <a:ext cx="1254820" cy="383480"/>
          </a:xfrm>
          <a:prstGeom prst="roundRect">
            <a:avLst>
              <a:gd name="adj" fmla="val 50000"/>
            </a:avLst>
          </a:prstGeom>
          <a:solidFill>
            <a:srgbClr val="EEF0E7"/>
          </a:solidFill>
          <a:ln/>
        </p:spPr>
        <p:txBody>
          <a:bodyPr wrap="none" lIns="0" tIns="0" rIns="0" bIns="0" rtlCol="0" anchor="ctr">
            <a:normAutofit/>
          </a:bodyPr>
          <a:lstStyle/>
          <a:p>
            <a:pPr algn="ctr" indent="0" marL="0">
              <a:lnSpc>
                <a:spcPts val="1820"/>
              </a:lnSpc>
              <a:buNone/>
            </a:pPr>
            <a:r>
              <a:rPr lang="en-US" sz="1300" b="1" dirty="0">
                <a:solidFill>
                  <a:srgbClr val="18313B"/>
                </a:solidFill>
                <a:latin typeface="DM Sans" pitchFamily="34" charset="0"/>
                <a:ea typeface="DM Sans" pitchFamily="34" charset="-122"/>
                <a:cs typeface="DM Sans" pitchFamily="34" charset="-120"/>
              </a:rPr>
              <a:t>scikit-learn</a:t>
            </a:r>
            <a:endParaRPr lang="en-US" sz="1300" dirty="0"/>
          </a:p>
        </p:txBody>
      </p:sp>
      <p:sp>
        <p:nvSpPr>
          <p:cNvPr id="23" name="Text 21"/>
          <p:cNvSpPr/>
          <p:nvPr/>
        </p:nvSpPr>
        <p:spPr>
          <a:xfrm>
            <a:off x="9482138" y="4539754"/>
            <a:ext cx="740866" cy="383480"/>
          </a:xfrm>
          <a:prstGeom prst="roundRect">
            <a:avLst>
              <a:gd name="adj" fmla="val 50000"/>
            </a:avLst>
          </a:prstGeom>
          <a:solidFill>
            <a:srgbClr val="EEF0E7"/>
          </a:solidFill>
          <a:ln/>
        </p:spPr>
        <p:txBody>
          <a:bodyPr wrap="none" lIns="0" tIns="0" rIns="0" bIns="0" rtlCol="0" anchor="ctr">
            <a:normAutofit/>
          </a:bodyPr>
          <a:lstStyle/>
          <a:p>
            <a:pPr algn="ctr" indent="0" marL="0">
              <a:lnSpc>
                <a:spcPts val="1820"/>
              </a:lnSpc>
              <a:buNone/>
            </a:pPr>
            <a:r>
              <a:rPr lang="en-US" sz="1300" b="1" dirty="0">
                <a:solidFill>
                  <a:srgbClr val="18313B"/>
                </a:solidFill>
                <a:latin typeface="DM Sans" pitchFamily="34" charset="0"/>
                <a:ea typeface="DM Sans" pitchFamily="34" charset="-122"/>
                <a:cs typeface="DM Sans" pitchFamily="34" charset="-120"/>
              </a:rPr>
              <a:t>SHAP</a:t>
            </a:r>
            <a:endParaRPr lang="en-US" sz="1300" dirty="0"/>
          </a:p>
        </p:txBody>
      </p:sp>
      <p:sp>
        <p:nvSpPr>
          <p:cNvPr id="24" name="Text 22"/>
          <p:cNvSpPr/>
          <p:nvPr/>
        </p:nvSpPr>
        <p:spPr>
          <a:xfrm>
            <a:off x="10324604" y="4539754"/>
            <a:ext cx="1054596" cy="383480"/>
          </a:xfrm>
          <a:prstGeom prst="roundRect">
            <a:avLst>
              <a:gd name="adj" fmla="val 50000"/>
            </a:avLst>
          </a:prstGeom>
          <a:solidFill>
            <a:srgbClr val="EEF0E7"/>
          </a:solidFill>
          <a:ln/>
        </p:spPr>
        <p:txBody>
          <a:bodyPr wrap="none" lIns="0" tIns="0" rIns="0" bIns="0" rtlCol="0" anchor="ctr">
            <a:normAutofit/>
          </a:bodyPr>
          <a:lstStyle/>
          <a:p>
            <a:pPr algn="ctr" indent="0" marL="0">
              <a:lnSpc>
                <a:spcPts val="1820"/>
              </a:lnSpc>
              <a:buNone/>
            </a:pPr>
            <a:r>
              <a:rPr lang="en-US" sz="1300" b="1" dirty="0">
                <a:solidFill>
                  <a:srgbClr val="18313B"/>
                </a:solidFill>
                <a:latin typeface="DM Sans" pitchFamily="34" charset="0"/>
                <a:ea typeface="DM Sans" pitchFamily="34" charset="-122"/>
                <a:cs typeface="DM Sans" pitchFamily="34" charset="-120"/>
              </a:rPr>
              <a:t>Streamlit</a:t>
            </a:r>
            <a:endParaRPr lang="en-US" sz="1300" dirty="0"/>
          </a:p>
        </p:txBody>
      </p:sp>
      <p:sp>
        <p:nvSpPr>
          <p:cNvPr id="25" name="Text 23"/>
          <p:cNvSpPr/>
          <p:nvPr/>
        </p:nvSpPr>
        <p:spPr>
          <a:xfrm>
            <a:off x="812800" y="6238280"/>
            <a:ext cx="39243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2665F"/>
                </a:solidFill>
                <a:latin typeface="DM Sans" pitchFamily="34" charset="0"/>
                <a:ea typeface="DM Sans" pitchFamily="34" charset="-122"/>
                <a:cs typeface="DM Sans" pitchFamily="34" charset="-120"/>
              </a:rPr>
              <a:t>Wellness Ledger</a:t>
            </a:r>
            <a:endParaRPr lang="en-US" sz="1200" dirty="0"/>
          </a:p>
        </p:txBody>
      </p:sp>
      <p:sp>
        <p:nvSpPr>
          <p:cNvPr id="26" name="Text 24"/>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2665F"/>
                </a:solidFill>
                <a:latin typeface="DM Sans" pitchFamily="34" charset="0"/>
                <a:ea typeface="DM Sans" pitchFamily="34" charset="-122"/>
                <a:cs typeface="DM Sans" pitchFamily="34" charset="-120"/>
              </a:rPr>
              <a:t>03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8313B"/>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CFA859"/>
                </a:solidFill>
                <a:latin typeface="DM Sans" pitchFamily="34" charset="0"/>
                <a:ea typeface="DM Sans" pitchFamily="34" charset="-122"/>
                <a:cs typeface="DM Sans" pitchFamily="34" charset="-120"/>
              </a:rPr>
              <a:t>HOW IT WORKS</a:t>
            </a:r>
            <a:endParaRPr lang="en-US" sz="1200" dirty="0"/>
          </a:p>
        </p:txBody>
      </p:sp>
      <p:sp>
        <p:nvSpPr>
          <p:cNvPr id="3" name="Text 1"/>
          <p:cNvSpPr/>
          <p:nvPr>
            <p:ph type="title"/>
          </p:nvPr>
        </p:nvSpPr>
        <p:spPr>
          <a:xfrm>
            <a:off x="812800" y="112772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0" i="0" dirty="0">
                <a:solidFill>
                  <a:srgbClr val="F5F1E8"/>
                </a:solidFill>
                <a:latin typeface="DM Serif Display" pitchFamily="18" charset="0"/>
                <a:ea typeface="DM Serif Display" pitchFamily="18" charset="-122"/>
                <a:cs typeface="DM Serif Display" pitchFamily="18" charset="-120"/>
              </a:rPr>
              <a:t>One pipeline from data to advice</a:t>
            </a:r>
            <a:endParaRPr lang="en-US" sz="3600" dirty="0"/>
          </a:p>
        </p:txBody>
      </p:sp>
      <p:sp>
        <p:nvSpPr>
          <p:cNvPr id="4" name="Shape 2"/>
          <p:cNvSpPr/>
          <p:nvPr/>
        </p:nvSpPr>
        <p:spPr>
          <a:xfrm>
            <a:off x="812800" y="1986161"/>
            <a:ext cx="1422400" cy="1427262"/>
          </a:xfrm>
          <a:prstGeom prst="roundRect">
            <a:avLst>
              <a:gd name="adj" fmla="val 7143"/>
            </a:avLst>
          </a:prstGeom>
          <a:solidFill>
            <a:srgbClr val="24424D"/>
          </a:solidFill>
          <a:ln/>
        </p:spPr>
      </p:sp>
      <p:sp>
        <p:nvSpPr>
          <p:cNvPr id="5" name="Text 3"/>
          <p:cNvSpPr/>
          <p:nvPr/>
        </p:nvSpPr>
        <p:spPr>
          <a:xfrm>
            <a:off x="939800" y="2189361"/>
            <a:ext cx="121920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CFA859"/>
                </a:solidFill>
                <a:latin typeface="DM Sans" pitchFamily="34" charset="0"/>
                <a:ea typeface="DM Sans" pitchFamily="34" charset="-122"/>
                <a:cs typeface="DM Sans" pitchFamily="34" charset="-120"/>
              </a:rPr>
              <a:t>01</a:t>
            </a:r>
            <a:endParaRPr lang="en-US" sz="1200" dirty="0"/>
          </a:p>
        </p:txBody>
      </p:sp>
      <p:sp>
        <p:nvSpPr>
          <p:cNvPr id="6" name="Text 4"/>
          <p:cNvSpPr/>
          <p:nvPr/>
        </p:nvSpPr>
        <p:spPr>
          <a:xfrm>
            <a:off x="939800" y="2478881"/>
            <a:ext cx="1219200"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5F1E8"/>
                </a:solidFill>
                <a:latin typeface="DM Sans" pitchFamily="34" charset="0"/>
                <a:ea typeface="DM Sans" pitchFamily="34" charset="-122"/>
                <a:cs typeface="DM Sans" pitchFamily="34" charset="-120"/>
              </a:rPr>
              <a:t>Data</a:t>
            </a:r>
            <a:endParaRPr lang="en-US" sz="1600" dirty="0"/>
          </a:p>
        </p:txBody>
      </p:sp>
      <p:sp>
        <p:nvSpPr>
          <p:cNvPr id="7" name="Text 5"/>
          <p:cNvSpPr/>
          <p:nvPr/>
        </p:nvSpPr>
        <p:spPr>
          <a:xfrm>
            <a:off x="939800" y="2798862"/>
            <a:ext cx="1219200" cy="43676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CFD6D2"/>
                </a:solidFill>
                <a:latin typeface="DM Sans" pitchFamily="34" charset="0"/>
                <a:ea typeface="DM Sans" pitchFamily="34" charset="-122"/>
                <a:cs typeface="DM Sans" pitchFamily="34" charset="-120"/>
              </a:rPr>
              <a:t>5,000 synthetic people</a:t>
            </a:r>
            <a:endParaRPr lang="en-US" sz="1200" dirty="0"/>
          </a:p>
        </p:txBody>
      </p:sp>
      <p:pic>
        <p:nvPicPr>
          <p:cNvPr id="8" name="Image 0" descr="arrow-right">    </p:cNvPr>
          <p:cNvPicPr>
            <a:picLocks noChangeAspect="1"/>
          </p:cNvPicPr>
          <p:nvPr/>
        </p:nvPicPr>
        <p:blipFill>
          <a:blip r:embed="rId1"/>
          <a:srcRect l="0" r="0" t="0" b="0"/>
          <a:stretch/>
        </p:blipFill>
        <p:spPr>
          <a:xfrm>
            <a:off x="2311400" y="2610842"/>
            <a:ext cx="254000" cy="177800"/>
          </a:xfrm>
          <a:prstGeom prst="rect">
            <a:avLst/>
          </a:prstGeom>
        </p:spPr>
      </p:pic>
      <p:sp>
        <p:nvSpPr>
          <p:cNvPr id="9" name="Shape 6"/>
          <p:cNvSpPr/>
          <p:nvPr/>
        </p:nvSpPr>
        <p:spPr>
          <a:xfrm>
            <a:off x="2641600" y="2088952"/>
            <a:ext cx="1422400" cy="1221581"/>
          </a:xfrm>
          <a:prstGeom prst="roundRect">
            <a:avLst>
              <a:gd name="adj" fmla="val 8317"/>
            </a:avLst>
          </a:prstGeom>
          <a:solidFill>
            <a:srgbClr val="24424D"/>
          </a:solidFill>
          <a:ln/>
        </p:spPr>
      </p:sp>
      <p:sp>
        <p:nvSpPr>
          <p:cNvPr id="10" name="Text 7"/>
          <p:cNvSpPr/>
          <p:nvPr/>
        </p:nvSpPr>
        <p:spPr>
          <a:xfrm>
            <a:off x="2768600" y="2292152"/>
            <a:ext cx="121920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CFA859"/>
                </a:solidFill>
                <a:latin typeface="DM Sans" pitchFamily="34" charset="0"/>
                <a:ea typeface="DM Sans" pitchFamily="34" charset="-122"/>
                <a:cs typeface="DM Sans" pitchFamily="34" charset="-120"/>
              </a:rPr>
              <a:t>02</a:t>
            </a:r>
            <a:endParaRPr lang="en-US" sz="1200" dirty="0"/>
          </a:p>
        </p:txBody>
      </p:sp>
      <p:sp>
        <p:nvSpPr>
          <p:cNvPr id="11" name="Text 8"/>
          <p:cNvSpPr/>
          <p:nvPr/>
        </p:nvSpPr>
        <p:spPr>
          <a:xfrm>
            <a:off x="2768600" y="2581672"/>
            <a:ext cx="1219200"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5F1E8"/>
                </a:solidFill>
                <a:latin typeface="DM Sans" pitchFamily="34" charset="0"/>
                <a:ea typeface="DM Sans" pitchFamily="34" charset="-122"/>
                <a:cs typeface="DM Sans" pitchFamily="34" charset="-120"/>
              </a:rPr>
              <a:t>Ratios</a:t>
            </a:r>
            <a:endParaRPr lang="en-US" sz="1600" dirty="0"/>
          </a:p>
        </p:txBody>
      </p:sp>
      <p:sp>
        <p:nvSpPr>
          <p:cNvPr id="12" name="Text 9"/>
          <p:cNvSpPr/>
          <p:nvPr/>
        </p:nvSpPr>
        <p:spPr>
          <a:xfrm>
            <a:off x="2768600" y="2901652"/>
            <a:ext cx="1295400" cy="231080"/>
          </a:xfrm>
          <a:prstGeom prst="rect">
            <a:avLst/>
          </a:prstGeom>
          <a:noFill/>
          <a:ln/>
        </p:spPr>
        <p:txBody>
          <a:bodyPr wrap="square" lIns="0" tIns="0" rIns="0" bIns="0" rtlCol="0" anchor="t">
            <a:normAutofit/>
          </a:bodyPr>
          <a:lstStyle/>
          <a:p>
            <a:pPr algn="l" indent="0" marL="0">
              <a:lnSpc>
                <a:spcPts val="1620"/>
              </a:lnSpc>
              <a:buNone/>
            </a:pPr>
            <a:r>
              <a:rPr lang="en-US" sz="1300" dirty="0">
                <a:solidFill>
                  <a:srgbClr val="CFD6D2"/>
                </a:solidFill>
                <a:latin typeface="DM Sans" pitchFamily="34" charset="0"/>
                <a:ea typeface="DM Sans" pitchFamily="34" charset="-122"/>
                <a:cs typeface="DM Sans" pitchFamily="34" charset="-120"/>
              </a:rPr>
              <a:t>7 engineered features</a:t>
            </a:r>
            <a:endParaRPr lang="en-US" sz="1200" dirty="0"/>
          </a:p>
        </p:txBody>
      </p:sp>
      <p:pic>
        <p:nvPicPr>
          <p:cNvPr id="13" name="Image 1" descr="arrow-right">    </p:cNvPr>
          <p:cNvPicPr>
            <a:picLocks noChangeAspect="1"/>
          </p:cNvPicPr>
          <p:nvPr/>
        </p:nvPicPr>
        <p:blipFill>
          <a:blip r:embed="rId2"/>
          <a:srcRect l="0" r="0" t="0" b="0"/>
          <a:stretch/>
        </p:blipFill>
        <p:spPr>
          <a:xfrm>
            <a:off x="4140200" y="2610842"/>
            <a:ext cx="254000" cy="177800"/>
          </a:xfrm>
          <a:prstGeom prst="rect">
            <a:avLst/>
          </a:prstGeom>
        </p:spPr>
      </p:pic>
      <p:sp>
        <p:nvSpPr>
          <p:cNvPr id="14" name="Shape 10"/>
          <p:cNvSpPr/>
          <p:nvPr/>
        </p:nvSpPr>
        <p:spPr>
          <a:xfrm>
            <a:off x="4470400" y="1986161"/>
            <a:ext cx="1422400" cy="1427262"/>
          </a:xfrm>
          <a:prstGeom prst="roundRect">
            <a:avLst>
              <a:gd name="adj" fmla="val 7143"/>
            </a:avLst>
          </a:prstGeom>
          <a:solidFill>
            <a:srgbClr val="24424D"/>
          </a:solidFill>
          <a:ln/>
        </p:spPr>
      </p:sp>
      <p:sp>
        <p:nvSpPr>
          <p:cNvPr id="15" name="Text 11"/>
          <p:cNvSpPr/>
          <p:nvPr/>
        </p:nvSpPr>
        <p:spPr>
          <a:xfrm>
            <a:off x="4597400" y="2189361"/>
            <a:ext cx="121920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CFA859"/>
                </a:solidFill>
                <a:latin typeface="DM Sans" pitchFamily="34" charset="0"/>
                <a:ea typeface="DM Sans" pitchFamily="34" charset="-122"/>
                <a:cs typeface="DM Sans" pitchFamily="34" charset="-120"/>
              </a:rPr>
              <a:t>03</a:t>
            </a:r>
            <a:endParaRPr lang="en-US" sz="1200" dirty="0"/>
          </a:p>
        </p:txBody>
      </p:sp>
      <p:sp>
        <p:nvSpPr>
          <p:cNvPr id="16" name="Text 12"/>
          <p:cNvSpPr/>
          <p:nvPr/>
        </p:nvSpPr>
        <p:spPr>
          <a:xfrm>
            <a:off x="4597400" y="2478881"/>
            <a:ext cx="1219200"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5F1E8"/>
                </a:solidFill>
                <a:latin typeface="DM Sans" pitchFamily="34" charset="0"/>
                <a:ea typeface="DM Sans" pitchFamily="34" charset="-122"/>
                <a:cs typeface="DM Sans" pitchFamily="34" charset="-120"/>
              </a:rPr>
              <a:t>Rule score</a:t>
            </a:r>
            <a:endParaRPr lang="en-US" sz="1600" dirty="0"/>
          </a:p>
        </p:txBody>
      </p:sp>
      <p:sp>
        <p:nvSpPr>
          <p:cNvPr id="17" name="Text 13"/>
          <p:cNvSpPr/>
          <p:nvPr/>
        </p:nvSpPr>
        <p:spPr>
          <a:xfrm>
            <a:off x="4597400" y="2798862"/>
            <a:ext cx="1219200" cy="43676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CFD6D2"/>
                </a:solidFill>
                <a:latin typeface="DM Sans" pitchFamily="34" charset="0"/>
                <a:ea typeface="DM Sans" pitchFamily="34" charset="-122"/>
                <a:cs typeface="DM Sans" pitchFamily="34" charset="-120"/>
              </a:rPr>
              <a:t>Rules of thumb to 0–100</a:t>
            </a:r>
            <a:endParaRPr lang="en-US" sz="1200" dirty="0"/>
          </a:p>
        </p:txBody>
      </p:sp>
      <p:pic>
        <p:nvPicPr>
          <p:cNvPr id="18" name="Image 2" descr="arrow-right">    </p:cNvPr>
          <p:cNvPicPr>
            <a:picLocks noChangeAspect="1"/>
          </p:cNvPicPr>
          <p:nvPr/>
        </p:nvPicPr>
        <p:blipFill>
          <a:blip r:embed="rId3"/>
          <a:srcRect l="0" r="0" t="0" b="0"/>
          <a:stretch/>
        </p:blipFill>
        <p:spPr>
          <a:xfrm>
            <a:off x="5969000" y="2610842"/>
            <a:ext cx="254000" cy="177800"/>
          </a:xfrm>
          <a:prstGeom prst="rect">
            <a:avLst/>
          </a:prstGeom>
        </p:spPr>
      </p:pic>
      <p:sp>
        <p:nvSpPr>
          <p:cNvPr id="19" name="Shape 14"/>
          <p:cNvSpPr/>
          <p:nvPr/>
        </p:nvSpPr>
        <p:spPr>
          <a:xfrm>
            <a:off x="6299200" y="1986161"/>
            <a:ext cx="1422400" cy="1427262"/>
          </a:xfrm>
          <a:prstGeom prst="roundRect">
            <a:avLst>
              <a:gd name="adj" fmla="val 7143"/>
            </a:avLst>
          </a:prstGeom>
          <a:solidFill>
            <a:srgbClr val="24424D"/>
          </a:solidFill>
          <a:ln/>
        </p:spPr>
      </p:sp>
      <p:sp>
        <p:nvSpPr>
          <p:cNvPr id="20" name="Text 15"/>
          <p:cNvSpPr/>
          <p:nvPr/>
        </p:nvSpPr>
        <p:spPr>
          <a:xfrm>
            <a:off x="6426200" y="2189361"/>
            <a:ext cx="121920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CFA859"/>
                </a:solidFill>
                <a:latin typeface="DM Sans" pitchFamily="34" charset="0"/>
                <a:ea typeface="DM Sans" pitchFamily="34" charset="-122"/>
                <a:cs typeface="DM Sans" pitchFamily="34" charset="-120"/>
              </a:rPr>
              <a:t>04</a:t>
            </a:r>
            <a:endParaRPr lang="en-US" sz="1200" dirty="0"/>
          </a:p>
        </p:txBody>
      </p:sp>
      <p:sp>
        <p:nvSpPr>
          <p:cNvPr id="21" name="Text 16"/>
          <p:cNvSpPr/>
          <p:nvPr/>
        </p:nvSpPr>
        <p:spPr>
          <a:xfrm>
            <a:off x="6426200" y="2478881"/>
            <a:ext cx="1219200"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5F1E8"/>
                </a:solidFill>
                <a:latin typeface="DM Sans" pitchFamily="34" charset="0"/>
                <a:ea typeface="DM Sans" pitchFamily="34" charset="-122"/>
                <a:cs typeface="DM Sans" pitchFamily="34" charset="-120"/>
              </a:rPr>
              <a:t>Model</a:t>
            </a:r>
            <a:endParaRPr lang="en-US" sz="1600" dirty="0"/>
          </a:p>
        </p:txBody>
      </p:sp>
      <p:sp>
        <p:nvSpPr>
          <p:cNvPr id="22" name="Text 17"/>
          <p:cNvSpPr/>
          <p:nvPr/>
        </p:nvSpPr>
        <p:spPr>
          <a:xfrm>
            <a:off x="6426200" y="2798862"/>
            <a:ext cx="1219200" cy="43676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CFD6D2"/>
                </a:solidFill>
                <a:latin typeface="DM Sans" pitchFamily="34" charset="0"/>
                <a:ea typeface="DM Sans" pitchFamily="34" charset="-122"/>
                <a:cs typeface="DM Sans" pitchFamily="34" charset="-120"/>
              </a:rPr>
              <a:t>Random Forest
300 trees, depth 8</a:t>
            </a:r>
            <a:endParaRPr lang="en-US" sz="1200" dirty="0"/>
          </a:p>
        </p:txBody>
      </p:sp>
      <p:pic>
        <p:nvPicPr>
          <p:cNvPr id="23" name="Image 3" descr="arrow-right">    </p:cNvPr>
          <p:cNvPicPr>
            <a:picLocks noChangeAspect="1"/>
          </p:cNvPicPr>
          <p:nvPr/>
        </p:nvPicPr>
        <p:blipFill>
          <a:blip r:embed="rId4"/>
          <a:srcRect l="0" r="0" t="0" b="0"/>
          <a:stretch/>
        </p:blipFill>
        <p:spPr>
          <a:xfrm>
            <a:off x="7797800" y="2610842"/>
            <a:ext cx="254000" cy="177800"/>
          </a:xfrm>
          <a:prstGeom prst="rect">
            <a:avLst/>
          </a:prstGeom>
        </p:spPr>
      </p:pic>
      <p:sp>
        <p:nvSpPr>
          <p:cNvPr id="24" name="Shape 18"/>
          <p:cNvSpPr/>
          <p:nvPr/>
        </p:nvSpPr>
        <p:spPr>
          <a:xfrm>
            <a:off x="8128000" y="1986161"/>
            <a:ext cx="1422400" cy="1427262"/>
          </a:xfrm>
          <a:prstGeom prst="roundRect">
            <a:avLst>
              <a:gd name="adj" fmla="val 7143"/>
            </a:avLst>
          </a:prstGeom>
          <a:solidFill>
            <a:srgbClr val="24424D"/>
          </a:solidFill>
          <a:ln/>
        </p:spPr>
      </p:sp>
      <p:sp>
        <p:nvSpPr>
          <p:cNvPr id="25" name="Text 19"/>
          <p:cNvSpPr/>
          <p:nvPr/>
        </p:nvSpPr>
        <p:spPr>
          <a:xfrm>
            <a:off x="8255000" y="2189361"/>
            <a:ext cx="121920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CFA859"/>
                </a:solidFill>
                <a:latin typeface="DM Sans" pitchFamily="34" charset="0"/>
                <a:ea typeface="DM Sans" pitchFamily="34" charset="-122"/>
                <a:cs typeface="DM Sans" pitchFamily="34" charset="-120"/>
              </a:rPr>
              <a:t>05</a:t>
            </a:r>
            <a:endParaRPr lang="en-US" sz="1200" dirty="0"/>
          </a:p>
        </p:txBody>
      </p:sp>
      <p:sp>
        <p:nvSpPr>
          <p:cNvPr id="26" name="Text 20"/>
          <p:cNvSpPr/>
          <p:nvPr/>
        </p:nvSpPr>
        <p:spPr>
          <a:xfrm>
            <a:off x="8255000" y="2478881"/>
            <a:ext cx="1219200"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5F1E8"/>
                </a:solidFill>
                <a:latin typeface="DM Sans" pitchFamily="34" charset="0"/>
                <a:ea typeface="DM Sans" pitchFamily="34" charset="-122"/>
                <a:cs typeface="DM Sans" pitchFamily="34" charset="-120"/>
              </a:rPr>
              <a:t>SHAP</a:t>
            </a:r>
            <a:endParaRPr lang="en-US" sz="1600" dirty="0"/>
          </a:p>
        </p:txBody>
      </p:sp>
      <p:sp>
        <p:nvSpPr>
          <p:cNvPr id="27" name="Text 21"/>
          <p:cNvSpPr/>
          <p:nvPr/>
        </p:nvSpPr>
        <p:spPr>
          <a:xfrm>
            <a:off x="8255000" y="2798862"/>
            <a:ext cx="1219200" cy="43676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CFD6D2"/>
                </a:solidFill>
                <a:latin typeface="DM Sans" pitchFamily="34" charset="0"/>
                <a:ea typeface="DM Sans" pitchFamily="34" charset="-122"/>
                <a:cs typeface="DM Sans" pitchFamily="34" charset="-120"/>
              </a:rPr>
              <a:t>Which factors moved it</a:t>
            </a:r>
            <a:endParaRPr lang="en-US" sz="1200" dirty="0"/>
          </a:p>
        </p:txBody>
      </p:sp>
      <p:pic>
        <p:nvPicPr>
          <p:cNvPr id="28" name="Image 4" descr="arrow-right">    </p:cNvPr>
          <p:cNvPicPr>
            <a:picLocks noChangeAspect="1"/>
          </p:cNvPicPr>
          <p:nvPr/>
        </p:nvPicPr>
        <p:blipFill>
          <a:blip r:embed="rId5"/>
          <a:srcRect l="0" r="0" t="0" b="0"/>
          <a:stretch/>
        </p:blipFill>
        <p:spPr>
          <a:xfrm>
            <a:off x="9626600" y="2610842"/>
            <a:ext cx="254000" cy="177800"/>
          </a:xfrm>
          <a:prstGeom prst="rect">
            <a:avLst/>
          </a:prstGeom>
        </p:spPr>
      </p:pic>
      <p:sp>
        <p:nvSpPr>
          <p:cNvPr id="29" name="Shape 22"/>
          <p:cNvSpPr/>
          <p:nvPr/>
        </p:nvSpPr>
        <p:spPr>
          <a:xfrm>
            <a:off x="9956800" y="1986161"/>
            <a:ext cx="1422400" cy="1427262"/>
          </a:xfrm>
          <a:prstGeom prst="roundRect">
            <a:avLst>
              <a:gd name="adj" fmla="val 7143"/>
            </a:avLst>
          </a:prstGeom>
          <a:solidFill>
            <a:srgbClr val="24424D"/>
          </a:solidFill>
          <a:ln/>
        </p:spPr>
      </p:sp>
      <p:sp>
        <p:nvSpPr>
          <p:cNvPr id="30" name="Text 23"/>
          <p:cNvSpPr/>
          <p:nvPr/>
        </p:nvSpPr>
        <p:spPr>
          <a:xfrm>
            <a:off x="10083800" y="2189361"/>
            <a:ext cx="121920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CFA859"/>
                </a:solidFill>
                <a:latin typeface="DM Sans" pitchFamily="34" charset="0"/>
                <a:ea typeface="DM Sans" pitchFamily="34" charset="-122"/>
                <a:cs typeface="DM Sans" pitchFamily="34" charset="-120"/>
              </a:rPr>
              <a:t>06</a:t>
            </a:r>
            <a:endParaRPr lang="en-US" sz="1200" dirty="0"/>
          </a:p>
        </p:txBody>
      </p:sp>
      <p:sp>
        <p:nvSpPr>
          <p:cNvPr id="31" name="Text 24"/>
          <p:cNvSpPr/>
          <p:nvPr/>
        </p:nvSpPr>
        <p:spPr>
          <a:xfrm>
            <a:off x="10083800" y="2478881"/>
            <a:ext cx="1219200"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5F1E8"/>
                </a:solidFill>
                <a:latin typeface="DM Sans" pitchFamily="34" charset="0"/>
                <a:ea typeface="DM Sans" pitchFamily="34" charset="-122"/>
                <a:cs typeface="DM Sans" pitchFamily="34" charset="-120"/>
              </a:rPr>
              <a:t>Advice</a:t>
            </a:r>
            <a:endParaRPr lang="en-US" sz="1600" dirty="0"/>
          </a:p>
        </p:txBody>
      </p:sp>
      <p:sp>
        <p:nvSpPr>
          <p:cNvPr id="32" name="Text 25"/>
          <p:cNvSpPr/>
          <p:nvPr/>
        </p:nvSpPr>
        <p:spPr>
          <a:xfrm>
            <a:off x="10083800" y="2798862"/>
            <a:ext cx="1219200" cy="436761"/>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CFD6D2"/>
                </a:solidFill>
                <a:latin typeface="DM Sans" pitchFamily="34" charset="0"/>
                <a:ea typeface="DM Sans" pitchFamily="34" charset="-122"/>
                <a:cs typeface="DM Sans" pitchFamily="34" charset="-120"/>
              </a:rPr>
              <a:t>Targets and next steps</a:t>
            </a:r>
            <a:endParaRPr lang="en-US" sz="1200" dirty="0"/>
          </a:p>
        </p:txBody>
      </p:sp>
      <p:sp>
        <p:nvSpPr>
          <p:cNvPr id="33" name="Shape 26"/>
          <p:cNvSpPr/>
          <p:nvPr/>
        </p:nvSpPr>
        <p:spPr>
          <a:xfrm>
            <a:off x="831850" y="5455940"/>
            <a:ext cx="0" cy="386060"/>
          </a:xfrm>
          <a:prstGeom prst="line">
            <a:avLst/>
          </a:prstGeom>
          <a:noFill/>
          <a:ln w="38100">
            <a:solidFill>
              <a:srgbClr val="CFA859"/>
            </a:solidFill>
            <a:prstDash val="solid"/>
          </a:ln>
        </p:spPr>
      </p:sp>
      <p:sp>
        <p:nvSpPr>
          <p:cNvPr id="34" name="Text 27"/>
          <p:cNvSpPr/>
          <p:nvPr/>
        </p:nvSpPr>
        <p:spPr>
          <a:xfrm>
            <a:off x="1054100" y="5506740"/>
            <a:ext cx="10634853"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5F1E8"/>
                </a:solidFill>
                <a:latin typeface="DM Sans" pitchFamily="34" charset="0"/>
                <a:ea typeface="DM Sans" pitchFamily="34" charset="-122"/>
                <a:cs typeface="DM Sans" pitchFamily="34" charset="-120"/>
              </a:rPr>
              <a:t>After the model predicts, a fixed rule applies: </a:t>
            </a:r>
            <a:r>
              <a:rPr lang="en-US" sz="1600" b="1" dirty="0">
                <a:solidFill>
                  <a:srgbClr val="F5F1E8"/>
                </a:solidFill>
                <a:latin typeface="DM Sans" pitchFamily="34" charset="0"/>
                <a:ea typeface="DM Sans" pitchFamily="34" charset="-122"/>
                <a:cs typeface="DM Sans" pitchFamily="34" charset="-120"/>
              </a:rPr>
              <a:t>spending above income caps the score at 49</a:t>
            </a:r>
            <a:r>
              <a:rPr lang="en-US" sz="1600" dirty="0">
                <a:solidFill>
                  <a:srgbClr val="F5F1E8"/>
                </a:solidFill>
                <a:latin typeface="DM Sans" pitchFamily="34" charset="0"/>
                <a:ea typeface="DM Sans" pitchFamily="34" charset="-122"/>
                <a:cs typeface="DM Sans" pitchFamily="34" charset="-120"/>
              </a:rPr>
              <a:t> (“At risk”).</a:t>
            </a:r>
            <a:endParaRPr lang="en-US" sz="1600" dirty="0"/>
          </a:p>
        </p:txBody>
      </p:sp>
      <p:sp>
        <p:nvSpPr>
          <p:cNvPr id="35" name="Text 28"/>
          <p:cNvSpPr/>
          <p:nvPr/>
        </p:nvSpPr>
        <p:spPr>
          <a:xfrm>
            <a:off x="812800" y="6238280"/>
            <a:ext cx="39243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B6B8"/>
                </a:solidFill>
                <a:latin typeface="DM Sans" pitchFamily="34" charset="0"/>
                <a:ea typeface="DM Sans" pitchFamily="34" charset="-122"/>
                <a:cs typeface="DM Sans" pitchFamily="34" charset="-120"/>
              </a:rPr>
              <a:t>Wellness Ledger</a:t>
            </a:r>
            <a:endParaRPr lang="en-US" sz="1200" dirty="0"/>
          </a:p>
        </p:txBody>
      </p:sp>
      <p:sp>
        <p:nvSpPr>
          <p:cNvPr id="36" name="Text 29"/>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A9B6B8"/>
                </a:solidFill>
                <a:latin typeface="DM Sans" pitchFamily="34" charset="0"/>
                <a:ea typeface="DM Sans" pitchFamily="34" charset="-122"/>
                <a:cs typeface="DM Sans" pitchFamily="34" charset="-120"/>
              </a:rPr>
              <a:t>04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1E8"/>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3F6549"/>
                </a:solidFill>
                <a:latin typeface="DM Sans" pitchFamily="34" charset="0"/>
                <a:ea typeface="DM Sans" pitchFamily="34" charset="-122"/>
                <a:cs typeface="DM Sans" pitchFamily="34" charset="-120"/>
              </a:rPr>
              <a:t>DATA AND SCORE DESIGN</a:t>
            </a:r>
            <a:endParaRPr lang="en-US" sz="1200" dirty="0"/>
          </a:p>
        </p:txBody>
      </p:sp>
      <p:sp>
        <p:nvSpPr>
          <p:cNvPr id="3" name="Text 1"/>
          <p:cNvSpPr/>
          <p:nvPr>
            <p:ph type="title"/>
          </p:nvPr>
        </p:nvSpPr>
        <p:spPr>
          <a:xfrm>
            <a:off x="812800" y="112772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0" i="0" dirty="0">
                <a:solidFill>
                  <a:srgbClr val="18313B"/>
                </a:solidFill>
                <a:latin typeface="DM Serif Display" pitchFamily="18" charset="0"/>
                <a:ea typeface="DM Serif Display" pitchFamily="18" charset="-122"/>
                <a:cs typeface="DM Serif Display" pitchFamily="18" charset="-120"/>
              </a:rPr>
              <a:t>A transparent score built from seven engineered features</a:t>
            </a:r>
            <a:endParaRPr lang="en-US" sz="3600" dirty="0"/>
          </a:p>
        </p:txBody>
      </p:sp>
      <p:sp>
        <p:nvSpPr>
          <p:cNvPr id="4" name="Shape 2"/>
          <p:cNvSpPr/>
          <p:nvPr/>
        </p:nvSpPr>
        <p:spPr>
          <a:xfrm>
            <a:off x="812800" y="1935361"/>
            <a:ext cx="4064000" cy="3468886"/>
          </a:xfrm>
          <a:prstGeom prst="roundRect">
            <a:avLst>
              <a:gd name="adj" fmla="val 2929"/>
            </a:avLst>
          </a:prstGeom>
          <a:solidFill>
            <a:srgbClr val="18313B"/>
          </a:solidFill>
          <a:ln/>
        </p:spPr>
      </p:sp>
      <p:sp>
        <p:nvSpPr>
          <p:cNvPr id="5" name="Text 3"/>
          <p:cNvSpPr/>
          <p:nvPr/>
        </p:nvSpPr>
        <p:spPr>
          <a:xfrm>
            <a:off x="1117600" y="2240161"/>
            <a:ext cx="3558032" cy="787400"/>
          </a:xfrm>
          <a:prstGeom prst="rect">
            <a:avLst/>
          </a:prstGeom>
          <a:noFill/>
          <a:ln/>
        </p:spPr>
        <p:txBody>
          <a:bodyPr wrap="square" lIns="0" tIns="0" rIns="0" bIns="0" rtlCol="0" anchor="t">
            <a:normAutofit/>
          </a:bodyPr>
          <a:lstStyle/>
          <a:p>
            <a:pPr algn="l" indent="0" marL="0">
              <a:lnSpc>
                <a:spcPts val="6000"/>
              </a:lnSpc>
              <a:buNone/>
            </a:pPr>
            <a:r>
              <a:rPr lang="en-US" sz="6000" dirty="0">
                <a:solidFill>
                  <a:srgbClr val="CFA859"/>
                </a:solidFill>
                <a:latin typeface="DM Serif Display" pitchFamily="18" charset="0"/>
                <a:ea typeface="DM Serif Display" pitchFamily="18" charset="-122"/>
                <a:cs typeface="DM Serif Display" pitchFamily="18" charset="-120"/>
              </a:rPr>
              <a:t>5,000</a:t>
            </a:r>
            <a:endParaRPr lang="en-US" sz="6000" dirty="0"/>
          </a:p>
        </p:txBody>
      </p:sp>
      <p:sp>
        <p:nvSpPr>
          <p:cNvPr id="6" name="Text 4"/>
          <p:cNvSpPr/>
          <p:nvPr/>
        </p:nvSpPr>
        <p:spPr>
          <a:xfrm>
            <a:off x="1117600" y="3154561"/>
            <a:ext cx="3558032" cy="848122"/>
          </a:xfrm>
          <a:prstGeom prst="rect">
            <a:avLst/>
          </a:prstGeom>
          <a:noFill/>
          <a:ln/>
        </p:spPr>
        <p:txBody>
          <a:bodyPr wrap="square" lIns="0" tIns="0" rIns="0" bIns="0" rtlCol="0" anchor="t">
            <a:normAutofit/>
          </a:bodyPr>
          <a:lstStyle/>
          <a:p>
            <a:pPr algn="l" indent="0" marL="0">
              <a:lnSpc>
                <a:spcPts val="2160"/>
              </a:lnSpc>
              <a:buNone/>
            </a:pPr>
            <a:r>
              <a:rPr lang="en-US" sz="1600" dirty="0">
                <a:solidFill>
                  <a:srgbClr val="F5F1E8"/>
                </a:solidFill>
                <a:latin typeface="DM Sans" pitchFamily="34" charset="0"/>
                <a:ea typeface="DM Sans" pitchFamily="34" charset="-122"/>
                <a:cs typeface="DM Sans" pitchFamily="34" charset="-120"/>
              </a:rPr>
              <a:t>Synthetic records generated from income, spending, savings, debt, emergency-fund and income-source inputs.</a:t>
            </a:r>
            <a:endParaRPr lang="en-US" sz="1600" dirty="0"/>
          </a:p>
        </p:txBody>
      </p:sp>
      <p:sp>
        <p:nvSpPr>
          <p:cNvPr id="7" name="Text 5"/>
          <p:cNvSpPr/>
          <p:nvPr/>
        </p:nvSpPr>
        <p:spPr>
          <a:xfrm>
            <a:off x="1117600" y="4129683"/>
            <a:ext cx="3558032" cy="487561"/>
          </a:xfrm>
          <a:prstGeom prst="rect">
            <a:avLst/>
          </a:prstGeom>
          <a:noFill/>
          <a:ln/>
        </p:spPr>
        <p:txBody>
          <a:bodyPr wrap="square" lIns="0" tIns="0" rIns="0" bIns="0" rtlCol="0" anchor="t">
            <a:normAutofit/>
          </a:bodyPr>
          <a:lstStyle/>
          <a:p>
            <a:pPr algn="l" indent="0" marL="0">
              <a:lnSpc>
                <a:spcPts val="1820"/>
              </a:lnSpc>
              <a:buNone/>
            </a:pPr>
            <a:r>
              <a:rPr lang="en-US" sz="1400" dirty="0">
                <a:solidFill>
                  <a:srgbClr val="CFD6D2"/>
                </a:solidFill>
                <a:latin typeface="DM Sans" pitchFamily="34" charset="0"/>
                <a:ea typeface="DM Sans" pitchFamily="34" charset="-122"/>
                <a:cs typeface="DM Sans" pitchFamily="34" charset="-120"/>
              </a:rPr>
              <a:t>The target scores come from a rule-based formula—not observed outcomes from real people.</a:t>
            </a:r>
            <a:endParaRPr lang="en-US" sz="1300" dirty="0"/>
          </a:p>
        </p:txBody>
      </p:sp>
      <p:sp>
        <p:nvSpPr>
          <p:cNvPr id="8" name="Text 6"/>
          <p:cNvSpPr/>
          <p:nvPr/>
        </p:nvSpPr>
        <p:spPr>
          <a:xfrm>
            <a:off x="5283200" y="1935361"/>
            <a:ext cx="6278880"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8313B"/>
                </a:solidFill>
                <a:latin typeface="DM Sans" pitchFamily="34" charset="0"/>
                <a:ea typeface="DM Sans" pitchFamily="34" charset="-122"/>
                <a:cs typeface="DM Sans" pitchFamily="34" charset="-120"/>
              </a:rPr>
              <a:t>Score weights (points out of 100)</a:t>
            </a:r>
            <a:endParaRPr lang="en-US" sz="1400" dirty="0"/>
          </a:p>
        </p:txBody>
      </p:sp>
      <p:sp>
        <p:nvSpPr>
          <p:cNvPr id="9" name="Text 7"/>
          <p:cNvSpPr/>
          <p:nvPr/>
        </p:nvSpPr>
        <p:spPr>
          <a:xfrm>
            <a:off x="5283200" y="2311202"/>
            <a:ext cx="2223770"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57"/>
                </a:solidFill>
                <a:latin typeface="DM Sans" pitchFamily="34" charset="0"/>
                <a:ea typeface="DM Sans" pitchFamily="34" charset="-122"/>
                <a:cs typeface="DM Sans" pitchFamily="34" charset="-120"/>
              </a:rPr>
              <a:t>Savings cushion</a:t>
            </a:r>
            <a:endParaRPr lang="en-US" sz="1400" dirty="0"/>
          </a:p>
        </p:txBody>
      </p:sp>
      <p:sp>
        <p:nvSpPr>
          <p:cNvPr id="10" name="Shape 8"/>
          <p:cNvSpPr/>
          <p:nvPr/>
        </p:nvSpPr>
        <p:spPr>
          <a:xfrm>
            <a:off x="7594600" y="2334022"/>
            <a:ext cx="2540000" cy="203200"/>
          </a:xfrm>
          <a:prstGeom prst="roundRect">
            <a:avLst>
              <a:gd name="adj" fmla="val 25000"/>
            </a:avLst>
          </a:prstGeom>
          <a:solidFill>
            <a:srgbClr val="3F6549"/>
          </a:solidFill>
          <a:ln/>
        </p:spPr>
      </p:sp>
      <p:sp>
        <p:nvSpPr>
          <p:cNvPr id="11" name="Text 9"/>
          <p:cNvSpPr/>
          <p:nvPr/>
        </p:nvSpPr>
        <p:spPr>
          <a:xfrm>
            <a:off x="10287000" y="2311202"/>
            <a:ext cx="263823"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8313B"/>
                </a:solidFill>
                <a:latin typeface="DM Sans" pitchFamily="34" charset="0"/>
                <a:ea typeface="DM Sans" pitchFamily="34" charset="-122"/>
                <a:cs typeface="DM Sans" pitchFamily="34" charset="-120"/>
              </a:rPr>
              <a:t>25</a:t>
            </a:r>
            <a:endParaRPr lang="en-US" sz="1400" dirty="0"/>
          </a:p>
        </p:txBody>
      </p:sp>
      <p:sp>
        <p:nvSpPr>
          <p:cNvPr id="12" name="Text 10"/>
          <p:cNvSpPr/>
          <p:nvPr/>
        </p:nvSpPr>
        <p:spPr>
          <a:xfrm>
            <a:off x="5283200" y="2687042"/>
            <a:ext cx="2223770"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57"/>
                </a:solidFill>
                <a:latin typeface="DM Sans" pitchFamily="34" charset="0"/>
                <a:ea typeface="DM Sans" pitchFamily="34" charset="-122"/>
                <a:cs typeface="DM Sans" pitchFamily="34" charset="-120"/>
              </a:rPr>
              <a:t>Debt-to-income</a:t>
            </a:r>
            <a:endParaRPr lang="en-US" sz="1400" dirty="0"/>
          </a:p>
        </p:txBody>
      </p:sp>
      <p:sp>
        <p:nvSpPr>
          <p:cNvPr id="13" name="Shape 11"/>
          <p:cNvSpPr/>
          <p:nvPr/>
        </p:nvSpPr>
        <p:spPr>
          <a:xfrm>
            <a:off x="7594600" y="2709863"/>
            <a:ext cx="2032000" cy="203200"/>
          </a:xfrm>
          <a:prstGeom prst="roundRect">
            <a:avLst>
              <a:gd name="adj" fmla="val 25000"/>
            </a:avLst>
          </a:prstGeom>
          <a:solidFill>
            <a:srgbClr val="3F6549"/>
          </a:solidFill>
          <a:ln/>
        </p:spPr>
      </p:sp>
      <p:sp>
        <p:nvSpPr>
          <p:cNvPr id="14" name="Text 12"/>
          <p:cNvSpPr/>
          <p:nvPr/>
        </p:nvSpPr>
        <p:spPr>
          <a:xfrm>
            <a:off x="9779000" y="2687042"/>
            <a:ext cx="277912"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8313B"/>
                </a:solidFill>
                <a:latin typeface="DM Sans" pitchFamily="34" charset="0"/>
                <a:ea typeface="DM Sans" pitchFamily="34" charset="-122"/>
                <a:cs typeface="DM Sans" pitchFamily="34" charset="-120"/>
              </a:rPr>
              <a:t>20</a:t>
            </a:r>
            <a:endParaRPr lang="en-US" sz="1400" dirty="0"/>
          </a:p>
        </p:txBody>
      </p:sp>
      <p:sp>
        <p:nvSpPr>
          <p:cNvPr id="15" name="Text 13"/>
          <p:cNvSpPr/>
          <p:nvPr/>
        </p:nvSpPr>
        <p:spPr>
          <a:xfrm>
            <a:off x="5283200" y="3062883"/>
            <a:ext cx="2223770"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57"/>
                </a:solidFill>
                <a:latin typeface="DM Sans" pitchFamily="34" charset="0"/>
                <a:ea typeface="DM Sans" pitchFamily="34" charset="-122"/>
                <a:cs typeface="DM Sans" pitchFamily="34" charset="-120"/>
              </a:rPr>
              <a:t>Repayment burden</a:t>
            </a:r>
            <a:endParaRPr lang="en-US" sz="1400" dirty="0"/>
          </a:p>
        </p:txBody>
      </p:sp>
      <p:sp>
        <p:nvSpPr>
          <p:cNvPr id="16" name="Shape 14"/>
          <p:cNvSpPr/>
          <p:nvPr/>
        </p:nvSpPr>
        <p:spPr>
          <a:xfrm>
            <a:off x="7594600" y="3085703"/>
            <a:ext cx="2032000" cy="203200"/>
          </a:xfrm>
          <a:prstGeom prst="roundRect">
            <a:avLst>
              <a:gd name="adj" fmla="val 25000"/>
            </a:avLst>
          </a:prstGeom>
          <a:solidFill>
            <a:srgbClr val="3F6549"/>
          </a:solidFill>
          <a:ln/>
        </p:spPr>
      </p:sp>
      <p:sp>
        <p:nvSpPr>
          <p:cNvPr id="17" name="Text 15"/>
          <p:cNvSpPr/>
          <p:nvPr/>
        </p:nvSpPr>
        <p:spPr>
          <a:xfrm>
            <a:off x="9779000" y="3062883"/>
            <a:ext cx="277912"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8313B"/>
                </a:solidFill>
                <a:latin typeface="DM Sans" pitchFamily="34" charset="0"/>
                <a:ea typeface="DM Sans" pitchFamily="34" charset="-122"/>
                <a:cs typeface="DM Sans" pitchFamily="34" charset="-120"/>
              </a:rPr>
              <a:t>20</a:t>
            </a:r>
            <a:endParaRPr lang="en-US" sz="1400" dirty="0"/>
          </a:p>
        </p:txBody>
      </p:sp>
      <p:sp>
        <p:nvSpPr>
          <p:cNvPr id="18" name="Text 16"/>
          <p:cNvSpPr/>
          <p:nvPr/>
        </p:nvSpPr>
        <p:spPr>
          <a:xfrm>
            <a:off x="5283200" y="3438723"/>
            <a:ext cx="2223770"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57"/>
                </a:solidFill>
                <a:latin typeface="DM Sans" pitchFamily="34" charset="0"/>
                <a:ea typeface="DM Sans" pitchFamily="34" charset="-122"/>
                <a:cs typeface="DM Sans" pitchFamily="34" charset="-120"/>
              </a:rPr>
              <a:t>Expense-to-income</a:t>
            </a:r>
            <a:endParaRPr lang="en-US" sz="1400" dirty="0"/>
          </a:p>
        </p:txBody>
      </p:sp>
      <p:sp>
        <p:nvSpPr>
          <p:cNvPr id="19" name="Shape 17"/>
          <p:cNvSpPr/>
          <p:nvPr/>
        </p:nvSpPr>
        <p:spPr>
          <a:xfrm>
            <a:off x="7594600" y="3461544"/>
            <a:ext cx="1524000" cy="203200"/>
          </a:xfrm>
          <a:prstGeom prst="roundRect">
            <a:avLst>
              <a:gd name="adj" fmla="val 25000"/>
            </a:avLst>
          </a:prstGeom>
          <a:solidFill>
            <a:srgbClr val="3F6549"/>
          </a:solidFill>
          <a:ln/>
        </p:spPr>
      </p:sp>
      <p:sp>
        <p:nvSpPr>
          <p:cNvPr id="20" name="Text 18"/>
          <p:cNvSpPr/>
          <p:nvPr/>
        </p:nvSpPr>
        <p:spPr>
          <a:xfrm>
            <a:off x="9271000" y="3438723"/>
            <a:ext cx="226020"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8313B"/>
                </a:solidFill>
                <a:latin typeface="DM Sans" pitchFamily="34" charset="0"/>
                <a:ea typeface="DM Sans" pitchFamily="34" charset="-122"/>
                <a:cs typeface="DM Sans" pitchFamily="34" charset="-120"/>
              </a:rPr>
              <a:t>15</a:t>
            </a:r>
            <a:endParaRPr lang="en-US" sz="1400" dirty="0"/>
          </a:p>
        </p:txBody>
      </p:sp>
      <p:sp>
        <p:nvSpPr>
          <p:cNvPr id="21" name="Text 19"/>
          <p:cNvSpPr/>
          <p:nvPr/>
        </p:nvSpPr>
        <p:spPr>
          <a:xfrm>
            <a:off x="5283200" y="3814564"/>
            <a:ext cx="2223770"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57"/>
                </a:solidFill>
                <a:latin typeface="DM Sans" pitchFamily="34" charset="0"/>
                <a:ea typeface="DM Sans" pitchFamily="34" charset="-122"/>
                <a:cs typeface="DM Sans" pitchFamily="34" charset="-120"/>
              </a:rPr>
              <a:t>Emergency fund months</a:t>
            </a:r>
            <a:endParaRPr lang="en-US" sz="1400" dirty="0"/>
          </a:p>
        </p:txBody>
      </p:sp>
      <p:sp>
        <p:nvSpPr>
          <p:cNvPr id="22" name="Shape 20"/>
          <p:cNvSpPr/>
          <p:nvPr/>
        </p:nvSpPr>
        <p:spPr>
          <a:xfrm>
            <a:off x="7594600" y="3837384"/>
            <a:ext cx="1219200" cy="203200"/>
          </a:xfrm>
          <a:prstGeom prst="roundRect">
            <a:avLst>
              <a:gd name="adj" fmla="val 25000"/>
            </a:avLst>
          </a:prstGeom>
          <a:solidFill>
            <a:srgbClr val="3F6549"/>
          </a:solidFill>
          <a:ln/>
        </p:spPr>
      </p:sp>
      <p:sp>
        <p:nvSpPr>
          <p:cNvPr id="23" name="Text 21"/>
          <p:cNvSpPr/>
          <p:nvPr/>
        </p:nvSpPr>
        <p:spPr>
          <a:xfrm>
            <a:off x="8966200" y="3814564"/>
            <a:ext cx="218182"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8313B"/>
                </a:solidFill>
                <a:latin typeface="DM Sans" pitchFamily="34" charset="0"/>
                <a:ea typeface="DM Sans" pitchFamily="34" charset="-122"/>
                <a:cs typeface="DM Sans" pitchFamily="34" charset="-120"/>
              </a:rPr>
              <a:t>12</a:t>
            </a:r>
            <a:endParaRPr lang="en-US" sz="1400" dirty="0"/>
          </a:p>
        </p:txBody>
      </p:sp>
      <p:sp>
        <p:nvSpPr>
          <p:cNvPr id="24" name="Text 22"/>
          <p:cNvSpPr/>
          <p:nvPr/>
        </p:nvSpPr>
        <p:spPr>
          <a:xfrm>
            <a:off x="5283200" y="4190405"/>
            <a:ext cx="2223770"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57"/>
                </a:solidFill>
                <a:latin typeface="DM Sans" pitchFamily="34" charset="0"/>
                <a:ea typeface="DM Sans" pitchFamily="34" charset="-122"/>
                <a:cs typeface="DM Sans" pitchFamily="34" charset="-120"/>
              </a:rPr>
              <a:t>Income stability</a:t>
            </a:r>
            <a:endParaRPr lang="en-US" sz="1400" dirty="0"/>
          </a:p>
        </p:txBody>
      </p:sp>
      <p:sp>
        <p:nvSpPr>
          <p:cNvPr id="25" name="Shape 23"/>
          <p:cNvSpPr/>
          <p:nvPr/>
        </p:nvSpPr>
        <p:spPr>
          <a:xfrm>
            <a:off x="7594600" y="4213225"/>
            <a:ext cx="508000" cy="203200"/>
          </a:xfrm>
          <a:prstGeom prst="roundRect">
            <a:avLst>
              <a:gd name="adj" fmla="val 25000"/>
            </a:avLst>
          </a:prstGeom>
          <a:solidFill>
            <a:srgbClr val="3F6549"/>
          </a:solidFill>
          <a:ln/>
        </p:spPr>
      </p:sp>
      <p:sp>
        <p:nvSpPr>
          <p:cNvPr id="26" name="Text 24"/>
          <p:cNvSpPr/>
          <p:nvPr/>
        </p:nvSpPr>
        <p:spPr>
          <a:xfrm>
            <a:off x="8255000" y="4190405"/>
            <a:ext cx="161230"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8313B"/>
                </a:solidFill>
                <a:latin typeface="DM Sans" pitchFamily="34" charset="0"/>
                <a:ea typeface="DM Sans" pitchFamily="34" charset="-122"/>
                <a:cs typeface="DM Sans" pitchFamily="34" charset="-120"/>
              </a:rPr>
              <a:t>5</a:t>
            </a:r>
            <a:endParaRPr lang="en-US" sz="1400" dirty="0"/>
          </a:p>
        </p:txBody>
      </p:sp>
      <p:sp>
        <p:nvSpPr>
          <p:cNvPr id="27" name="Text 25"/>
          <p:cNvSpPr/>
          <p:nvPr/>
        </p:nvSpPr>
        <p:spPr>
          <a:xfrm>
            <a:off x="5283200" y="4566245"/>
            <a:ext cx="2223770"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A5557"/>
                </a:solidFill>
                <a:latin typeface="DM Sans" pitchFamily="34" charset="0"/>
                <a:ea typeface="DM Sans" pitchFamily="34" charset="-122"/>
                <a:cs typeface="DM Sans" pitchFamily="34" charset="-120"/>
              </a:rPr>
              <a:t>Discretionary share</a:t>
            </a:r>
            <a:endParaRPr lang="en-US" sz="1400" dirty="0"/>
          </a:p>
        </p:txBody>
      </p:sp>
      <p:sp>
        <p:nvSpPr>
          <p:cNvPr id="28" name="Shape 26"/>
          <p:cNvSpPr/>
          <p:nvPr/>
        </p:nvSpPr>
        <p:spPr>
          <a:xfrm>
            <a:off x="7594600" y="4589066"/>
            <a:ext cx="304800" cy="203200"/>
          </a:xfrm>
          <a:prstGeom prst="roundRect">
            <a:avLst>
              <a:gd name="adj" fmla="val 25000"/>
            </a:avLst>
          </a:prstGeom>
          <a:solidFill>
            <a:srgbClr val="3F6549"/>
          </a:solidFill>
          <a:ln/>
        </p:spPr>
      </p:sp>
      <p:sp>
        <p:nvSpPr>
          <p:cNvPr id="29" name="Text 27"/>
          <p:cNvSpPr/>
          <p:nvPr/>
        </p:nvSpPr>
        <p:spPr>
          <a:xfrm>
            <a:off x="8051800" y="4566245"/>
            <a:ext cx="158055"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8313B"/>
                </a:solidFill>
                <a:latin typeface="DM Sans" pitchFamily="34" charset="0"/>
                <a:ea typeface="DM Sans" pitchFamily="34" charset="-122"/>
                <a:cs typeface="DM Sans" pitchFamily="34" charset="-120"/>
              </a:rPr>
              <a:t>3</a:t>
            </a:r>
            <a:endParaRPr lang="en-US" sz="1400" dirty="0"/>
          </a:p>
        </p:txBody>
      </p:sp>
      <p:sp>
        <p:nvSpPr>
          <p:cNvPr id="30" name="Text 28"/>
          <p:cNvSpPr/>
          <p:nvPr/>
        </p:nvSpPr>
        <p:spPr>
          <a:xfrm>
            <a:off x="5283200" y="4942086"/>
            <a:ext cx="6278880"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57"/>
                </a:solidFill>
                <a:latin typeface="DM Sans" pitchFamily="34" charset="0"/>
                <a:ea typeface="DM Sans" pitchFamily="34" charset="-122"/>
                <a:cs typeface="DM Sans" pitchFamily="34" charset="-120"/>
              </a:rPr>
              <a:t>Illustrative targets: savings cushion ≈ half a year of income; emergency fund ≈ 6 months of essential costs; repayments &lt;30% of income; expenses &lt;70%.</a:t>
            </a:r>
            <a:endParaRPr lang="en-US" sz="1300" dirty="0"/>
          </a:p>
        </p:txBody>
      </p:sp>
      <p:sp>
        <p:nvSpPr>
          <p:cNvPr id="31" name="Text 29"/>
          <p:cNvSpPr/>
          <p:nvPr/>
        </p:nvSpPr>
        <p:spPr>
          <a:xfrm>
            <a:off x="812800" y="6238280"/>
            <a:ext cx="39243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2665F"/>
                </a:solidFill>
                <a:latin typeface="DM Sans" pitchFamily="34" charset="0"/>
                <a:ea typeface="DM Sans" pitchFamily="34" charset="-122"/>
                <a:cs typeface="DM Sans" pitchFamily="34" charset="-120"/>
              </a:rPr>
              <a:t>Wellness Ledger</a:t>
            </a:r>
            <a:endParaRPr lang="en-US" sz="1200" dirty="0"/>
          </a:p>
        </p:txBody>
      </p:sp>
      <p:sp>
        <p:nvSpPr>
          <p:cNvPr id="32" name="Text 30"/>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2665F"/>
                </a:solidFill>
                <a:latin typeface="DM Sans" pitchFamily="34" charset="0"/>
                <a:ea typeface="DM Sans" pitchFamily="34" charset="-122"/>
                <a:cs typeface="DM Sans" pitchFamily="34" charset="-120"/>
              </a:rPr>
              <a:t>05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1E8"/>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3F6549"/>
                </a:solidFill>
                <a:latin typeface="DM Sans" pitchFamily="34" charset="0"/>
                <a:ea typeface="DM Sans" pitchFamily="34" charset="-122"/>
                <a:cs typeface="DM Sans" pitchFamily="34" charset="-120"/>
              </a:rPr>
              <a:t>MODEL AND RESULTS</a:t>
            </a:r>
            <a:endParaRPr lang="en-US" sz="1200" dirty="0"/>
          </a:p>
        </p:txBody>
      </p:sp>
      <p:sp>
        <p:nvSpPr>
          <p:cNvPr id="3" name="Text 1"/>
          <p:cNvSpPr/>
          <p:nvPr>
            <p:ph type="title"/>
          </p:nvPr>
        </p:nvSpPr>
        <p:spPr>
          <a:xfrm>
            <a:off x="812800" y="112772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0" i="0" dirty="0">
                <a:solidFill>
                  <a:srgbClr val="18313B"/>
                </a:solidFill>
                <a:latin typeface="DM Serif Display" pitchFamily="18" charset="0"/>
                <a:ea typeface="DM Serif Display" pitchFamily="18" charset="-122"/>
                <a:cs typeface="DM Serif Display" pitchFamily="18" charset="-120"/>
              </a:rPr>
              <a:t>A Random Forest that learns the rule score</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897261"/>
          <a:ext cx="6337300" cy="2315766"/>
        </p:xfrm>
        <a:graphic>
          <a:graphicData uri="http://schemas.openxmlformats.org/drawingml/2006/table">
            <a:tbl>
              <a:tblPr/>
              <a:tblGrid>
                <a:gridCol w="2915158"/>
                <a:gridCol w="1140714"/>
                <a:gridCol w="1140714"/>
                <a:gridCol w="1140714"/>
              </a:tblGrid>
              <a:tr h="385961">
                <a:tc>
                  <a:txBody>
                    <a:bodyPr/>
                    <a:lstStyle/>
                    <a:p>
                      <a:pPr indent="0" marL="0">
                        <a:lnSpc>
                          <a:spcPts val="1960"/>
                        </a:lnSpc>
                        <a:buNone/>
                      </a:pPr>
                      <a:r>
                        <a:rPr lang="en-US" sz="1400" b="1" dirty="0">
                          <a:solidFill>
                            <a:srgbClr val="18313B"/>
                          </a:solidFill>
                          <a:latin typeface="DM Sans" pitchFamily="34" charset="0"/>
                          <a:ea typeface="DM Sans" pitchFamily="34" charset="-122"/>
                          <a:cs typeface="DM Sans" pitchFamily="34" charset="-120"/>
                        </a:rPr>
                        <a:t>Method</a:t>
                      </a:r>
                      <a:endParaRPr lang="en-US" sz="1400" dirty="0">
                        <a:latin typeface="DM Sans" charset="0"/>
                        <a:ea typeface="DM Sans" charset="0"/>
                        <a:cs typeface="DM Sans" charset="0"/>
                      </a:endParaRPr>
                    </a:p>
                  </a:txBody>
                  <a:tcPr marL="62230" marR="62230" marT="62230" marB="62230" anchor="t">
                    <a:lnL w="12700" cap="flat" cmpd="sng" algn="ctr">
                      <a:solidFill>
                        <a:srgbClr val="C4C0B9"/>
                      </a:solidFill>
                      <a:prstDash val="solid"/>
                      <a:round/>
                      <a:headEnd type="none" w="med" len="med"/>
                      <a:tailEnd type="none" w="med" len="med"/>
                    </a:lnL>
                    <a:lnR w="12700" cap="flat" cmpd="sng" algn="ctr">
                      <a:solidFill>
                        <a:srgbClr val="B5B2AC"/>
                      </a:solidFill>
                      <a:prstDash val="solid"/>
                      <a:round/>
                      <a:headEnd type="none" w="med" len="med"/>
                      <a:tailEnd type="none" w="med" len="med"/>
                    </a:lnR>
                    <a:lnT w="12700" cap="flat" cmpd="sng" algn="ctr">
                      <a:solidFill>
                        <a:srgbClr val="C4C0B9"/>
                      </a:solidFill>
                      <a:prstDash val="solid"/>
                      <a:round/>
                      <a:headEnd type="none" w="med" len="med"/>
                      <a:tailEnd type="none" w="med" len="med"/>
                    </a:lnT>
                    <a:lnB w="12700" cap="flat" cmpd="sng" algn="ctr">
                      <a:solidFill>
                        <a:srgbClr val="B5B2AC"/>
                      </a:solidFill>
                      <a:prstDash val="solid"/>
                      <a:round/>
                      <a:headEnd type="none" w="med" len="med"/>
                      <a:tailEnd type="none" w="med" len="med"/>
                    </a:lnB>
                    <a:solidFill>
                      <a:srgbClr val="E3DFD7"/>
                    </a:solidFill>
                  </a:tcPr>
                </a:tc>
                <a:tc>
                  <a:txBody>
                    <a:bodyPr/>
                    <a:lstStyle/>
                    <a:p>
                      <a:pPr algn="r" indent="0" marL="0">
                        <a:lnSpc>
                          <a:spcPts val="1960"/>
                        </a:lnSpc>
                        <a:buNone/>
                      </a:pPr>
                      <a:r>
                        <a:rPr lang="en-US" sz="1400" b="1" dirty="0">
                          <a:solidFill>
                            <a:srgbClr val="18313B"/>
                          </a:solidFill>
                          <a:latin typeface="DM Sans" pitchFamily="34" charset="0"/>
                          <a:ea typeface="DM Sans" pitchFamily="34" charset="-122"/>
                          <a:cs typeface="DM Sans" pitchFamily="34" charset="-120"/>
                        </a:rPr>
                        <a:t>MAE</a:t>
                      </a:r>
                      <a:endParaRPr lang="en-US" sz="1400" dirty="0">
                        <a:latin typeface="DM Sans" charset="0"/>
                        <a:ea typeface="DM Sans" charset="0"/>
                        <a:cs typeface="DM Sans" charset="0"/>
                      </a:endParaRPr>
                    </a:p>
                  </a:txBody>
                  <a:tcPr marL="62230" marR="62230" marT="62230" marB="62230" anchor="t">
                    <a:lnL w="12700" cap="flat" cmpd="sng" algn="ctr">
                      <a:solidFill>
                        <a:srgbClr val="B5B2AC"/>
                      </a:solidFill>
                      <a:prstDash val="solid"/>
                      <a:round/>
                      <a:headEnd type="none" w="med" len="med"/>
                      <a:tailEnd type="none" w="med" len="med"/>
                    </a:lnL>
                    <a:lnR w="12700" cap="flat" cmpd="sng" algn="ctr">
                      <a:solidFill>
                        <a:srgbClr val="B5B2AC"/>
                      </a:solidFill>
                      <a:prstDash val="solid"/>
                      <a:round/>
                      <a:headEnd type="none" w="med" len="med"/>
                      <a:tailEnd type="none" w="med" len="med"/>
                    </a:lnR>
                    <a:lnT w="12700" cap="flat" cmpd="sng" algn="ctr">
                      <a:solidFill>
                        <a:srgbClr val="C4C0B9"/>
                      </a:solidFill>
                      <a:prstDash val="solid"/>
                      <a:round/>
                      <a:headEnd type="none" w="med" len="med"/>
                      <a:tailEnd type="none" w="med" len="med"/>
                    </a:lnT>
                    <a:lnB w="12700" cap="flat" cmpd="sng" algn="ctr">
                      <a:solidFill>
                        <a:srgbClr val="B5B2AC"/>
                      </a:solidFill>
                      <a:prstDash val="solid"/>
                      <a:round/>
                      <a:headEnd type="none" w="med" len="med"/>
                      <a:tailEnd type="none" w="med" len="med"/>
                    </a:lnB>
                    <a:solidFill>
                      <a:srgbClr val="E3DFD7"/>
                    </a:solidFill>
                  </a:tcPr>
                </a:tc>
                <a:tc>
                  <a:txBody>
                    <a:bodyPr/>
                    <a:lstStyle/>
                    <a:p>
                      <a:pPr algn="r" indent="0" marL="0">
                        <a:lnSpc>
                          <a:spcPts val="1960"/>
                        </a:lnSpc>
                        <a:buNone/>
                      </a:pPr>
                      <a:r>
                        <a:rPr lang="en-US" sz="1400" b="1" dirty="0">
                          <a:solidFill>
                            <a:srgbClr val="18313B"/>
                          </a:solidFill>
                          <a:latin typeface="DM Sans" pitchFamily="34" charset="0"/>
                          <a:ea typeface="DM Sans" pitchFamily="34" charset="-122"/>
                          <a:cs typeface="DM Sans" pitchFamily="34" charset="-120"/>
                        </a:rPr>
                        <a:t>RMSE</a:t>
                      </a:r>
                      <a:endParaRPr lang="en-US" sz="1400" dirty="0">
                        <a:latin typeface="DM Sans" charset="0"/>
                        <a:ea typeface="DM Sans" charset="0"/>
                        <a:cs typeface="DM Sans" charset="0"/>
                      </a:endParaRPr>
                    </a:p>
                  </a:txBody>
                  <a:tcPr marL="62230" marR="62230" marT="62230" marB="62230" anchor="t">
                    <a:lnL w="12700" cap="flat" cmpd="sng" algn="ctr">
                      <a:solidFill>
                        <a:srgbClr val="B5B2AC"/>
                      </a:solidFill>
                      <a:prstDash val="solid"/>
                      <a:round/>
                      <a:headEnd type="none" w="med" len="med"/>
                      <a:tailEnd type="none" w="med" len="med"/>
                    </a:lnL>
                    <a:lnR w="12700" cap="flat" cmpd="sng" algn="ctr">
                      <a:solidFill>
                        <a:srgbClr val="B5B2AC"/>
                      </a:solidFill>
                      <a:prstDash val="solid"/>
                      <a:round/>
                      <a:headEnd type="none" w="med" len="med"/>
                      <a:tailEnd type="none" w="med" len="med"/>
                    </a:lnR>
                    <a:lnT w="12700" cap="flat" cmpd="sng" algn="ctr">
                      <a:solidFill>
                        <a:srgbClr val="C4C0B9"/>
                      </a:solidFill>
                      <a:prstDash val="solid"/>
                      <a:round/>
                      <a:headEnd type="none" w="med" len="med"/>
                      <a:tailEnd type="none" w="med" len="med"/>
                    </a:lnT>
                    <a:lnB w="12700" cap="flat" cmpd="sng" algn="ctr">
                      <a:solidFill>
                        <a:srgbClr val="B5B2AC"/>
                      </a:solidFill>
                      <a:prstDash val="solid"/>
                      <a:round/>
                      <a:headEnd type="none" w="med" len="med"/>
                      <a:tailEnd type="none" w="med" len="med"/>
                    </a:lnB>
                    <a:solidFill>
                      <a:srgbClr val="E3DFD7"/>
                    </a:solidFill>
                  </a:tcPr>
                </a:tc>
                <a:tc>
                  <a:txBody>
                    <a:bodyPr/>
                    <a:lstStyle/>
                    <a:p>
                      <a:pPr algn="r" indent="0" marL="0">
                        <a:lnSpc>
                          <a:spcPts val="1960"/>
                        </a:lnSpc>
                        <a:buNone/>
                      </a:pPr>
                      <a:r>
                        <a:rPr lang="en-US" sz="1400" b="1" dirty="0">
                          <a:solidFill>
                            <a:srgbClr val="18313B"/>
                          </a:solidFill>
                          <a:latin typeface="DM Sans" pitchFamily="34" charset="0"/>
                          <a:ea typeface="DM Sans" pitchFamily="34" charset="-122"/>
                          <a:cs typeface="DM Sans" pitchFamily="34" charset="-120"/>
                        </a:rPr>
                        <a:t>R²</a:t>
                      </a:r>
                      <a:endParaRPr lang="en-US" sz="1400" dirty="0">
                        <a:latin typeface="DM Sans" charset="0"/>
                        <a:ea typeface="DM Sans" charset="0"/>
                        <a:cs typeface="DM Sans" charset="0"/>
                      </a:endParaRPr>
                    </a:p>
                  </a:txBody>
                  <a:tcPr marL="62230" marR="62230" marT="62230" marB="62230" anchor="t">
                    <a:lnL w="12700" cap="flat" cmpd="sng" algn="ctr">
                      <a:solidFill>
                        <a:srgbClr val="B5B2AC"/>
                      </a:solidFill>
                      <a:prstDash val="solid"/>
                      <a:round/>
                      <a:headEnd type="none" w="med" len="med"/>
                      <a:tailEnd type="none" w="med" len="med"/>
                    </a:lnL>
                    <a:lnR w="12700" cap="flat" cmpd="sng" algn="ctr">
                      <a:solidFill>
                        <a:srgbClr val="B5B2AC"/>
                      </a:solidFill>
                      <a:prstDash val="solid"/>
                      <a:round/>
                      <a:headEnd type="none" w="med" len="med"/>
                      <a:tailEnd type="none" w="med" len="med"/>
                    </a:lnR>
                    <a:lnT w="12700" cap="flat" cmpd="sng" algn="ctr">
                      <a:solidFill>
                        <a:srgbClr val="C4C0B9"/>
                      </a:solidFill>
                      <a:prstDash val="solid"/>
                      <a:round/>
                      <a:headEnd type="none" w="med" len="med"/>
                      <a:tailEnd type="none" w="med" len="med"/>
                    </a:lnT>
                    <a:lnB w="12700" cap="flat" cmpd="sng" algn="ctr">
                      <a:solidFill>
                        <a:srgbClr val="B5B2AC"/>
                      </a:solidFill>
                      <a:prstDash val="solid"/>
                      <a:round/>
                      <a:headEnd type="none" w="med" len="med"/>
                      <a:tailEnd type="none" w="med" len="med"/>
                    </a:lnB>
                    <a:solidFill>
                      <a:srgbClr val="E3DFD7"/>
                    </a:solidFill>
                  </a:tcPr>
                </a:tc>
              </a:tr>
              <a:tr h="385961">
                <a:tc>
                  <a:txBody>
                    <a:bodyPr/>
                    <a:lstStyle/>
                    <a:p>
                      <a:pPr indent="0" marL="0">
                        <a:lnSpc>
                          <a:spcPts val="1960"/>
                        </a:lnSpc>
                        <a:buNone/>
                      </a:pPr>
                      <a:r>
                        <a:rPr lang="en-US" sz="1400" dirty="0">
                          <a:solidFill>
                            <a:srgbClr val="18313B"/>
                          </a:solidFill>
                          <a:latin typeface="DM Sans" pitchFamily="34" charset="0"/>
                          <a:ea typeface="DM Sans" pitchFamily="34" charset="-122"/>
                          <a:cs typeface="DM Sans" pitchFamily="34" charset="-120"/>
                        </a:rPr>
                        <a:t>Rule-based formula</a:t>
                      </a:r>
                      <a:endParaRPr lang="en-US" sz="1400" dirty="0">
                        <a:latin typeface="DM Sans" charset="0"/>
                        <a:ea typeface="DM Sans" charset="0"/>
                        <a:cs typeface="DM Sans" charset="0"/>
                      </a:endParaRPr>
                    </a:p>
                  </a:txBody>
                  <a:tcPr marL="62230" marR="62230" marT="62230" marB="62230" anchor="t">
                    <a:lnL w="12700" cap="flat" cmpd="sng" algn="ctr">
                      <a:solidFill>
                        <a:srgbClr val="C4C0B9"/>
                      </a:solidFill>
                      <a:prstDash val="solid"/>
                      <a:round/>
                      <a:headEnd type="none" w="med" len="med"/>
                      <a:tailEnd type="none" w="med" len="med"/>
                    </a:lnL>
                    <a:lnR w="12700" cap="flat" cmpd="sng" algn="ctr">
                      <a:solidFill>
                        <a:srgbClr val="C4C0B9"/>
                      </a:solidFill>
                      <a:prstDash val="solid"/>
                      <a:round/>
                      <a:headEnd type="none" w="med" len="med"/>
                      <a:tailEnd type="none" w="med" len="med"/>
                    </a:lnR>
                    <a:lnT w="12700" cap="flat" cmpd="sng" algn="ctr">
                      <a:solidFill>
                        <a:srgbClr val="B5B2AC"/>
                      </a:solidFill>
                      <a:prstDash val="solid"/>
                      <a:round/>
                      <a:headEnd type="none" w="med" len="med"/>
                      <a:tailEnd type="none" w="med" len="med"/>
                    </a:lnT>
                    <a:lnB w="12700" cap="flat" cmpd="sng" algn="ctr">
                      <a:solidFill>
                        <a:srgbClr val="C4C0B9"/>
                      </a:solidFill>
                      <a:prstDash val="solid"/>
                      <a:round/>
                      <a:headEnd type="none" w="med" len="med"/>
                      <a:tailEnd type="none" w="med" len="med"/>
                    </a:lnB>
                  </a:tcPr>
                </a:tc>
                <a:tc>
                  <a:txBody>
                    <a:bodyPr/>
                    <a:lstStyle/>
                    <a:p>
                      <a:pPr algn="r" indent="0" marL="0">
                        <a:lnSpc>
                          <a:spcPts val="1960"/>
                        </a:lnSpc>
                        <a:buNone/>
                      </a:pPr>
                      <a:r>
                        <a:rPr lang="en-US" sz="1400" dirty="0">
                          <a:solidFill>
                            <a:srgbClr val="18313B"/>
                          </a:solidFill>
                          <a:latin typeface="DM Sans" pitchFamily="34" charset="0"/>
                          <a:ea typeface="DM Sans" pitchFamily="34" charset="-122"/>
                          <a:cs typeface="DM Sans" pitchFamily="34" charset="-120"/>
                        </a:rPr>
                        <a:t>2.01</a:t>
                      </a:r>
                      <a:endParaRPr lang="en-US" sz="1400" dirty="0">
                        <a:latin typeface="DM Sans" charset="0"/>
                        <a:ea typeface="DM Sans" charset="0"/>
                        <a:cs typeface="DM Sans" charset="0"/>
                      </a:endParaRPr>
                    </a:p>
                  </a:txBody>
                  <a:tcPr marL="62230" marR="62230" marT="62230" marB="62230" anchor="t">
                    <a:lnL w="12700" cap="flat" cmpd="sng" algn="ctr">
                      <a:solidFill>
                        <a:srgbClr val="C4C0B9"/>
                      </a:solidFill>
                      <a:prstDash val="solid"/>
                      <a:round/>
                      <a:headEnd type="none" w="med" len="med"/>
                      <a:tailEnd type="none" w="med" len="med"/>
                    </a:lnL>
                    <a:lnR w="12700" cap="flat" cmpd="sng" algn="ctr">
                      <a:solidFill>
                        <a:srgbClr val="C4C0B9"/>
                      </a:solidFill>
                      <a:prstDash val="solid"/>
                      <a:round/>
                      <a:headEnd type="none" w="med" len="med"/>
                      <a:tailEnd type="none" w="med" len="med"/>
                    </a:lnR>
                    <a:lnT w="12700" cap="flat" cmpd="sng" algn="ctr">
                      <a:solidFill>
                        <a:srgbClr val="B5B2AC"/>
                      </a:solidFill>
                      <a:prstDash val="solid"/>
                      <a:round/>
                      <a:headEnd type="none" w="med" len="med"/>
                      <a:tailEnd type="none" w="med" len="med"/>
                    </a:lnT>
                    <a:lnB w="12700" cap="flat" cmpd="sng" algn="ctr">
                      <a:solidFill>
                        <a:srgbClr val="C4C0B9"/>
                      </a:solidFill>
                      <a:prstDash val="solid"/>
                      <a:round/>
                      <a:headEnd type="none" w="med" len="med"/>
                      <a:tailEnd type="none" w="med" len="med"/>
                    </a:lnB>
                  </a:tcPr>
                </a:tc>
                <a:tc>
                  <a:txBody>
                    <a:bodyPr/>
                    <a:lstStyle/>
                    <a:p>
                      <a:pPr algn="r" indent="0" marL="0">
                        <a:lnSpc>
                          <a:spcPts val="1960"/>
                        </a:lnSpc>
                        <a:buNone/>
                      </a:pPr>
                      <a:r>
                        <a:rPr lang="en-US" sz="1400" dirty="0">
                          <a:solidFill>
                            <a:srgbClr val="18313B"/>
                          </a:solidFill>
                          <a:latin typeface="DM Sans" pitchFamily="34" charset="0"/>
                          <a:ea typeface="DM Sans" pitchFamily="34" charset="-122"/>
                          <a:cs typeface="DM Sans" pitchFamily="34" charset="-120"/>
                        </a:rPr>
                        <a:t>2.51</a:t>
                      </a:r>
                      <a:endParaRPr lang="en-US" sz="1400" dirty="0">
                        <a:latin typeface="DM Sans" charset="0"/>
                        <a:ea typeface="DM Sans" charset="0"/>
                        <a:cs typeface="DM Sans" charset="0"/>
                      </a:endParaRPr>
                    </a:p>
                  </a:txBody>
                  <a:tcPr marL="62230" marR="62230" marT="62230" marB="62230" anchor="t">
                    <a:lnL w="12700" cap="flat" cmpd="sng" algn="ctr">
                      <a:solidFill>
                        <a:srgbClr val="C4C0B9"/>
                      </a:solidFill>
                      <a:prstDash val="solid"/>
                      <a:round/>
                      <a:headEnd type="none" w="med" len="med"/>
                      <a:tailEnd type="none" w="med" len="med"/>
                    </a:lnL>
                    <a:lnR w="12700" cap="flat" cmpd="sng" algn="ctr">
                      <a:solidFill>
                        <a:srgbClr val="C4C0B9"/>
                      </a:solidFill>
                      <a:prstDash val="solid"/>
                      <a:round/>
                      <a:headEnd type="none" w="med" len="med"/>
                      <a:tailEnd type="none" w="med" len="med"/>
                    </a:lnR>
                    <a:lnT w="12700" cap="flat" cmpd="sng" algn="ctr">
                      <a:solidFill>
                        <a:srgbClr val="B5B2AC"/>
                      </a:solidFill>
                      <a:prstDash val="solid"/>
                      <a:round/>
                      <a:headEnd type="none" w="med" len="med"/>
                      <a:tailEnd type="none" w="med" len="med"/>
                    </a:lnT>
                    <a:lnB w="12700" cap="flat" cmpd="sng" algn="ctr">
                      <a:solidFill>
                        <a:srgbClr val="C4C0B9"/>
                      </a:solidFill>
                      <a:prstDash val="solid"/>
                      <a:round/>
                      <a:headEnd type="none" w="med" len="med"/>
                      <a:tailEnd type="none" w="med" len="med"/>
                    </a:lnB>
                  </a:tcPr>
                </a:tc>
                <a:tc>
                  <a:txBody>
                    <a:bodyPr/>
                    <a:lstStyle/>
                    <a:p>
                      <a:pPr algn="r" indent="0" marL="0">
                        <a:lnSpc>
                          <a:spcPts val="1960"/>
                        </a:lnSpc>
                        <a:buNone/>
                      </a:pPr>
                      <a:r>
                        <a:rPr lang="en-US" sz="1400" dirty="0">
                          <a:solidFill>
                            <a:srgbClr val="18313B"/>
                          </a:solidFill>
                          <a:latin typeface="DM Sans" pitchFamily="34" charset="0"/>
                          <a:ea typeface="DM Sans" pitchFamily="34" charset="-122"/>
                          <a:cs typeface="DM Sans" pitchFamily="34" charset="-120"/>
                        </a:rPr>
                        <a:t>0.968</a:t>
                      </a:r>
                      <a:endParaRPr lang="en-US" sz="1400" dirty="0">
                        <a:latin typeface="DM Sans" charset="0"/>
                        <a:ea typeface="DM Sans" charset="0"/>
                        <a:cs typeface="DM Sans" charset="0"/>
                      </a:endParaRPr>
                    </a:p>
                  </a:txBody>
                  <a:tcPr marL="62230" marR="62230" marT="62230" marB="62230" anchor="t">
                    <a:lnL w="12700" cap="flat" cmpd="sng" algn="ctr">
                      <a:solidFill>
                        <a:srgbClr val="C4C0B9"/>
                      </a:solidFill>
                      <a:prstDash val="solid"/>
                      <a:round/>
                      <a:headEnd type="none" w="med" len="med"/>
                      <a:tailEnd type="none" w="med" len="med"/>
                    </a:lnL>
                    <a:lnR w="12700" cap="flat" cmpd="sng" algn="ctr">
                      <a:solidFill>
                        <a:srgbClr val="C4C0B9"/>
                      </a:solidFill>
                      <a:prstDash val="solid"/>
                      <a:round/>
                      <a:headEnd type="none" w="med" len="med"/>
                      <a:tailEnd type="none" w="med" len="med"/>
                    </a:lnR>
                    <a:lnT w="12700" cap="flat" cmpd="sng" algn="ctr">
                      <a:solidFill>
                        <a:srgbClr val="B5B2AC"/>
                      </a:solidFill>
                      <a:prstDash val="solid"/>
                      <a:round/>
                      <a:headEnd type="none" w="med" len="med"/>
                      <a:tailEnd type="none" w="med" len="med"/>
                    </a:lnT>
                    <a:lnB w="12700" cap="flat" cmpd="sng" algn="ctr">
                      <a:solidFill>
                        <a:srgbClr val="C4C0B9"/>
                      </a:solidFill>
                      <a:prstDash val="solid"/>
                      <a:round/>
                      <a:headEnd type="none" w="med" len="med"/>
                      <a:tailEnd type="none" w="med" len="med"/>
                    </a:lnB>
                  </a:tcPr>
                </a:tc>
              </a:tr>
              <a:tr h="385961">
                <a:tc>
                  <a:txBody>
                    <a:bodyPr/>
                    <a:lstStyle/>
                    <a:p>
                      <a:pPr indent="0" marL="0">
                        <a:lnSpc>
                          <a:spcPts val="1960"/>
                        </a:lnSpc>
                        <a:buNone/>
                      </a:pPr>
                      <a:r>
                        <a:rPr lang="en-US" sz="1400" dirty="0">
                          <a:solidFill>
                            <a:srgbClr val="18313B"/>
                          </a:solidFill>
                          <a:latin typeface="DM Sans" pitchFamily="34" charset="0"/>
                          <a:ea typeface="DM Sans" pitchFamily="34" charset="-122"/>
                          <a:cs typeface="DM Sans" pitchFamily="34" charset="-120"/>
                        </a:rPr>
                        <a:t>Gradient Boosting</a:t>
                      </a:r>
                      <a:endParaRPr lang="en-US" sz="1400" dirty="0">
                        <a:latin typeface="DM Sans" charset="0"/>
                        <a:ea typeface="DM Sans" charset="0"/>
                        <a:cs typeface="DM Sans" charset="0"/>
                      </a:endParaRPr>
                    </a:p>
                  </a:txBody>
                  <a:tcPr marL="62230" marR="62230" marT="62230" marB="62230" anchor="t">
                    <a:lnL w="12700" cap="flat" cmpd="sng" algn="ctr">
                      <a:solidFill>
                        <a:srgbClr val="C4C0B9"/>
                      </a:solidFill>
                      <a:prstDash val="solid"/>
                      <a:round/>
                      <a:headEnd type="none" w="med" len="med"/>
                      <a:tailEnd type="none" w="med" len="med"/>
                    </a:lnL>
                    <a:lnR w="12700" cap="flat" cmpd="sng" algn="ctr">
                      <a:solidFill>
                        <a:srgbClr val="C4C0B9"/>
                      </a:solidFill>
                      <a:prstDash val="solid"/>
                      <a:round/>
                      <a:headEnd type="none" w="med" len="med"/>
                      <a:tailEnd type="none" w="med" len="med"/>
                    </a:lnR>
                    <a:lnT w="12700" cap="flat" cmpd="sng" algn="ctr">
                      <a:solidFill>
                        <a:srgbClr val="C4C0B9"/>
                      </a:solidFill>
                      <a:prstDash val="solid"/>
                      <a:round/>
                      <a:headEnd type="none" w="med" len="med"/>
                      <a:tailEnd type="none" w="med" len="med"/>
                    </a:lnT>
                    <a:lnB w="12700" cap="flat" cmpd="sng" algn="ctr">
                      <a:solidFill>
                        <a:srgbClr val="C4C0B9"/>
                      </a:solidFill>
                      <a:prstDash val="solid"/>
                      <a:round/>
                      <a:headEnd type="none" w="med" len="med"/>
                      <a:tailEnd type="none" w="med" len="med"/>
                    </a:lnB>
                  </a:tcPr>
                </a:tc>
                <a:tc>
                  <a:txBody>
                    <a:bodyPr/>
                    <a:lstStyle/>
                    <a:p>
                      <a:pPr algn="r" indent="0" marL="0">
                        <a:lnSpc>
                          <a:spcPts val="1960"/>
                        </a:lnSpc>
                        <a:buNone/>
                      </a:pPr>
                      <a:r>
                        <a:rPr lang="en-US" sz="1400" dirty="0">
                          <a:solidFill>
                            <a:srgbClr val="18313B"/>
                          </a:solidFill>
                          <a:latin typeface="DM Sans" pitchFamily="34" charset="0"/>
                          <a:ea typeface="DM Sans" pitchFamily="34" charset="-122"/>
                          <a:cs typeface="DM Sans" pitchFamily="34" charset="-120"/>
                        </a:rPr>
                        <a:t>2.21</a:t>
                      </a:r>
                      <a:endParaRPr lang="en-US" sz="1400" dirty="0">
                        <a:latin typeface="DM Sans" charset="0"/>
                        <a:ea typeface="DM Sans" charset="0"/>
                        <a:cs typeface="DM Sans" charset="0"/>
                      </a:endParaRPr>
                    </a:p>
                  </a:txBody>
                  <a:tcPr marL="62230" marR="62230" marT="62230" marB="62230" anchor="t">
                    <a:lnL w="12700" cap="flat" cmpd="sng" algn="ctr">
                      <a:solidFill>
                        <a:srgbClr val="C4C0B9"/>
                      </a:solidFill>
                      <a:prstDash val="solid"/>
                      <a:round/>
                      <a:headEnd type="none" w="med" len="med"/>
                      <a:tailEnd type="none" w="med" len="med"/>
                    </a:lnL>
                    <a:lnR w="12700" cap="flat" cmpd="sng" algn="ctr">
                      <a:solidFill>
                        <a:srgbClr val="C4C0B9"/>
                      </a:solidFill>
                      <a:prstDash val="solid"/>
                      <a:round/>
                      <a:headEnd type="none" w="med" len="med"/>
                      <a:tailEnd type="none" w="med" len="med"/>
                    </a:lnR>
                    <a:lnT w="12700" cap="flat" cmpd="sng" algn="ctr">
                      <a:solidFill>
                        <a:srgbClr val="C4C0B9"/>
                      </a:solidFill>
                      <a:prstDash val="solid"/>
                      <a:round/>
                      <a:headEnd type="none" w="med" len="med"/>
                      <a:tailEnd type="none" w="med" len="med"/>
                    </a:lnT>
                    <a:lnB w="12700" cap="flat" cmpd="sng" algn="ctr">
                      <a:solidFill>
                        <a:srgbClr val="C4C0B9"/>
                      </a:solidFill>
                      <a:prstDash val="solid"/>
                      <a:round/>
                      <a:headEnd type="none" w="med" len="med"/>
                      <a:tailEnd type="none" w="med" len="med"/>
                    </a:lnB>
                  </a:tcPr>
                </a:tc>
                <a:tc>
                  <a:txBody>
                    <a:bodyPr/>
                    <a:lstStyle/>
                    <a:p>
                      <a:pPr algn="r" indent="0" marL="0">
                        <a:lnSpc>
                          <a:spcPts val="1960"/>
                        </a:lnSpc>
                        <a:buNone/>
                      </a:pPr>
                      <a:r>
                        <a:rPr lang="en-US" sz="1400" dirty="0">
                          <a:solidFill>
                            <a:srgbClr val="18313B"/>
                          </a:solidFill>
                          <a:latin typeface="DM Sans" pitchFamily="34" charset="0"/>
                          <a:ea typeface="DM Sans" pitchFamily="34" charset="-122"/>
                          <a:cs typeface="DM Sans" pitchFamily="34" charset="-120"/>
                        </a:rPr>
                        <a:t>2.76</a:t>
                      </a:r>
                      <a:endParaRPr lang="en-US" sz="1400" dirty="0">
                        <a:latin typeface="DM Sans" charset="0"/>
                        <a:ea typeface="DM Sans" charset="0"/>
                        <a:cs typeface="DM Sans" charset="0"/>
                      </a:endParaRPr>
                    </a:p>
                  </a:txBody>
                  <a:tcPr marL="62230" marR="62230" marT="62230" marB="62230" anchor="t">
                    <a:lnL w="12700" cap="flat" cmpd="sng" algn="ctr">
                      <a:solidFill>
                        <a:srgbClr val="C4C0B9"/>
                      </a:solidFill>
                      <a:prstDash val="solid"/>
                      <a:round/>
                      <a:headEnd type="none" w="med" len="med"/>
                      <a:tailEnd type="none" w="med" len="med"/>
                    </a:lnL>
                    <a:lnR w="12700" cap="flat" cmpd="sng" algn="ctr">
                      <a:solidFill>
                        <a:srgbClr val="C4C0B9"/>
                      </a:solidFill>
                      <a:prstDash val="solid"/>
                      <a:round/>
                      <a:headEnd type="none" w="med" len="med"/>
                      <a:tailEnd type="none" w="med" len="med"/>
                    </a:lnR>
                    <a:lnT w="12700" cap="flat" cmpd="sng" algn="ctr">
                      <a:solidFill>
                        <a:srgbClr val="C4C0B9"/>
                      </a:solidFill>
                      <a:prstDash val="solid"/>
                      <a:round/>
                      <a:headEnd type="none" w="med" len="med"/>
                      <a:tailEnd type="none" w="med" len="med"/>
                    </a:lnT>
                    <a:lnB w="12700" cap="flat" cmpd="sng" algn="ctr">
                      <a:solidFill>
                        <a:srgbClr val="C4C0B9"/>
                      </a:solidFill>
                      <a:prstDash val="solid"/>
                      <a:round/>
                      <a:headEnd type="none" w="med" len="med"/>
                      <a:tailEnd type="none" w="med" len="med"/>
                    </a:lnB>
                  </a:tcPr>
                </a:tc>
                <a:tc>
                  <a:txBody>
                    <a:bodyPr/>
                    <a:lstStyle/>
                    <a:p>
                      <a:pPr algn="r" indent="0" marL="0">
                        <a:lnSpc>
                          <a:spcPts val="1960"/>
                        </a:lnSpc>
                        <a:buNone/>
                      </a:pPr>
                      <a:r>
                        <a:rPr lang="en-US" sz="1400" dirty="0">
                          <a:solidFill>
                            <a:srgbClr val="18313B"/>
                          </a:solidFill>
                          <a:latin typeface="DM Sans" pitchFamily="34" charset="0"/>
                          <a:ea typeface="DM Sans" pitchFamily="34" charset="-122"/>
                          <a:cs typeface="DM Sans" pitchFamily="34" charset="-120"/>
                        </a:rPr>
                        <a:t>0.962</a:t>
                      </a:r>
                      <a:endParaRPr lang="en-US" sz="1400" dirty="0">
                        <a:latin typeface="DM Sans" charset="0"/>
                        <a:ea typeface="DM Sans" charset="0"/>
                        <a:cs typeface="DM Sans" charset="0"/>
                      </a:endParaRPr>
                    </a:p>
                  </a:txBody>
                  <a:tcPr marL="62230" marR="62230" marT="62230" marB="62230" anchor="t">
                    <a:lnL w="12700" cap="flat" cmpd="sng" algn="ctr">
                      <a:solidFill>
                        <a:srgbClr val="C4C0B9"/>
                      </a:solidFill>
                      <a:prstDash val="solid"/>
                      <a:round/>
                      <a:headEnd type="none" w="med" len="med"/>
                      <a:tailEnd type="none" w="med" len="med"/>
                    </a:lnL>
                    <a:lnR w="12700" cap="flat" cmpd="sng" algn="ctr">
                      <a:solidFill>
                        <a:srgbClr val="C4C0B9"/>
                      </a:solidFill>
                      <a:prstDash val="solid"/>
                      <a:round/>
                      <a:headEnd type="none" w="med" len="med"/>
                      <a:tailEnd type="none" w="med" len="med"/>
                    </a:lnR>
                    <a:lnT w="12700" cap="flat" cmpd="sng" algn="ctr">
                      <a:solidFill>
                        <a:srgbClr val="C4C0B9"/>
                      </a:solidFill>
                      <a:prstDash val="solid"/>
                      <a:round/>
                      <a:headEnd type="none" w="med" len="med"/>
                      <a:tailEnd type="none" w="med" len="med"/>
                    </a:lnT>
                    <a:lnB w="12700" cap="flat" cmpd="sng" algn="ctr">
                      <a:solidFill>
                        <a:srgbClr val="C4C0B9"/>
                      </a:solidFill>
                      <a:prstDash val="solid"/>
                      <a:round/>
                      <a:headEnd type="none" w="med" len="med"/>
                      <a:tailEnd type="none" w="med" len="med"/>
                    </a:lnB>
                  </a:tcPr>
                </a:tc>
              </a:tr>
              <a:tr h="385961">
                <a:tc>
                  <a:txBody>
                    <a:bodyPr/>
                    <a:lstStyle/>
                    <a:p>
                      <a:pPr indent="0" marL="0">
                        <a:lnSpc>
                          <a:spcPts val="1960"/>
                        </a:lnSpc>
                        <a:buNone/>
                      </a:pPr>
                      <a:r>
                        <a:rPr lang="en-US" sz="1400" dirty="0">
                          <a:solidFill>
                            <a:srgbClr val="18313B"/>
                          </a:solidFill>
                          <a:latin typeface="DM Sans" pitchFamily="34" charset="0"/>
                          <a:ea typeface="DM Sans" pitchFamily="34" charset="-122"/>
                          <a:cs typeface="DM Sans" pitchFamily="34" charset="-120"/>
                        </a:rPr>
                        <a:t>Random Forest (used)</a:t>
                      </a:r>
                      <a:endParaRPr lang="en-US" sz="1400" dirty="0">
                        <a:latin typeface="DM Sans" charset="0"/>
                        <a:ea typeface="DM Sans" charset="0"/>
                        <a:cs typeface="DM Sans" charset="0"/>
                      </a:endParaRPr>
                    </a:p>
                  </a:txBody>
                  <a:tcPr marL="62230" marR="62230" marT="62230" marB="62230" anchor="t">
                    <a:lnL w="12700" cap="flat" cmpd="sng" algn="ctr">
                      <a:solidFill>
                        <a:srgbClr val="C4C0B9"/>
                      </a:solidFill>
                      <a:prstDash val="solid"/>
                      <a:round/>
                      <a:headEnd type="none" w="med" len="med"/>
                      <a:tailEnd type="none" w="med" len="med"/>
                    </a:lnL>
                    <a:lnR w="12700" cap="flat" cmpd="sng" algn="ctr">
                      <a:solidFill>
                        <a:srgbClr val="BEC0B8"/>
                      </a:solidFill>
                      <a:prstDash val="solid"/>
                      <a:round/>
                      <a:headEnd type="none" w="med" len="med"/>
                      <a:tailEnd type="none" w="med" len="med"/>
                    </a:lnR>
                    <a:lnT w="12700" cap="flat" cmpd="sng" algn="ctr">
                      <a:solidFill>
                        <a:srgbClr val="C4C0B9"/>
                      </a:solidFill>
                      <a:prstDash val="solid"/>
                      <a:round/>
                      <a:headEnd type="none" w="med" len="med"/>
                      <a:tailEnd type="none" w="med" len="med"/>
                    </a:lnT>
                    <a:lnB w="12700" cap="flat" cmpd="sng" algn="ctr">
                      <a:solidFill>
                        <a:srgbClr val="BEC0B8"/>
                      </a:solidFill>
                      <a:prstDash val="solid"/>
                      <a:round/>
                      <a:headEnd type="none" w="med" len="med"/>
                      <a:tailEnd type="none" w="med" len="med"/>
                    </a:lnB>
                    <a:solidFill>
                      <a:srgbClr val="EEF0E7"/>
                    </a:solidFill>
                  </a:tcPr>
                </a:tc>
                <a:tc>
                  <a:txBody>
                    <a:bodyPr/>
                    <a:lstStyle/>
                    <a:p>
                      <a:pPr algn="r" indent="0" marL="0">
                        <a:lnSpc>
                          <a:spcPts val="1960"/>
                        </a:lnSpc>
                        <a:buNone/>
                      </a:pPr>
                      <a:r>
                        <a:rPr lang="en-US" sz="1400" dirty="0">
                          <a:solidFill>
                            <a:srgbClr val="18313B"/>
                          </a:solidFill>
                          <a:latin typeface="DM Sans" pitchFamily="34" charset="0"/>
                          <a:ea typeface="DM Sans" pitchFamily="34" charset="-122"/>
                          <a:cs typeface="DM Sans" pitchFamily="34" charset="-120"/>
                        </a:rPr>
                        <a:t>2.61</a:t>
                      </a:r>
                      <a:endParaRPr lang="en-US" sz="1400" dirty="0">
                        <a:latin typeface="DM Sans" charset="0"/>
                        <a:ea typeface="DM Sans" charset="0"/>
                        <a:cs typeface="DM Sans" charset="0"/>
                      </a:endParaRPr>
                    </a:p>
                  </a:txBody>
                  <a:tcPr marL="62230" marR="62230" marT="62230" marB="62230" anchor="t">
                    <a:lnL w="12700" cap="flat" cmpd="sng" algn="ctr">
                      <a:solidFill>
                        <a:srgbClr val="BEC0B8"/>
                      </a:solidFill>
                      <a:prstDash val="solid"/>
                      <a:round/>
                      <a:headEnd type="none" w="med" len="med"/>
                      <a:tailEnd type="none" w="med" len="med"/>
                    </a:lnL>
                    <a:lnR w="12700" cap="flat" cmpd="sng" algn="ctr">
                      <a:solidFill>
                        <a:srgbClr val="BEC0B8"/>
                      </a:solidFill>
                      <a:prstDash val="solid"/>
                      <a:round/>
                      <a:headEnd type="none" w="med" len="med"/>
                      <a:tailEnd type="none" w="med" len="med"/>
                    </a:lnR>
                    <a:lnT w="12700" cap="flat" cmpd="sng" algn="ctr">
                      <a:solidFill>
                        <a:srgbClr val="C4C0B9"/>
                      </a:solidFill>
                      <a:prstDash val="solid"/>
                      <a:round/>
                      <a:headEnd type="none" w="med" len="med"/>
                      <a:tailEnd type="none" w="med" len="med"/>
                    </a:lnT>
                    <a:lnB w="12700" cap="flat" cmpd="sng" algn="ctr">
                      <a:solidFill>
                        <a:srgbClr val="BEC0B8"/>
                      </a:solidFill>
                      <a:prstDash val="solid"/>
                      <a:round/>
                      <a:headEnd type="none" w="med" len="med"/>
                      <a:tailEnd type="none" w="med" len="med"/>
                    </a:lnB>
                    <a:solidFill>
                      <a:srgbClr val="EEF0E7"/>
                    </a:solidFill>
                  </a:tcPr>
                </a:tc>
                <a:tc>
                  <a:txBody>
                    <a:bodyPr/>
                    <a:lstStyle/>
                    <a:p>
                      <a:pPr algn="r" indent="0" marL="0">
                        <a:lnSpc>
                          <a:spcPts val="1960"/>
                        </a:lnSpc>
                        <a:buNone/>
                      </a:pPr>
                      <a:r>
                        <a:rPr lang="en-US" sz="1400" dirty="0">
                          <a:solidFill>
                            <a:srgbClr val="18313B"/>
                          </a:solidFill>
                          <a:latin typeface="DM Sans" pitchFamily="34" charset="0"/>
                          <a:ea typeface="DM Sans" pitchFamily="34" charset="-122"/>
                          <a:cs typeface="DM Sans" pitchFamily="34" charset="-120"/>
                        </a:rPr>
                        <a:t>3.32</a:t>
                      </a:r>
                      <a:endParaRPr lang="en-US" sz="1400" dirty="0">
                        <a:latin typeface="DM Sans" charset="0"/>
                        <a:ea typeface="DM Sans" charset="0"/>
                        <a:cs typeface="DM Sans" charset="0"/>
                      </a:endParaRPr>
                    </a:p>
                  </a:txBody>
                  <a:tcPr marL="62230" marR="62230" marT="62230" marB="62230" anchor="t">
                    <a:lnL w="12700" cap="flat" cmpd="sng" algn="ctr">
                      <a:solidFill>
                        <a:srgbClr val="BEC0B8"/>
                      </a:solidFill>
                      <a:prstDash val="solid"/>
                      <a:round/>
                      <a:headEnd type="none" w="med" len="med"/>
                      <a:tailEnd type="none" w="med" len="med"/>
                    </a:lnL>
                    <a:lnR w="12700" cap="flat" cmpd="sng" algn="ctr">
                      <a:solidFill>
                        <a:srgbClr val="BEC0B8"/>
                      </a:solidFill>
                      <a:prstDash val="solid"/>
                      <a:round/>
                      <a:headEnd type="none" w="med" len="med"/>
                      <a:tailEnd type="none" w="med" len="med"/>
                    </a:lnR>
                    <a:lnT w="12700" cap="flat" cmpd="sng" algn="ctr">
                      <a:solidFill>
                        <a:srgbClr val="C4C0B9"/>
                      </a:solidFill>
                      <a:prstDash val="solid"/>
                      <a:round/>
                      <a:headEnd type="none" w="med" len="med"/>
                      <a:tailEnd type="none" w="med" len="med"/>
                    </a:lnT>
                    <a:lnB w="12700" cap="flat" cmpd="sng" algn="ctr">
                      <a:solidFill>
                        <a:srgbClr val="BEC0B8"/>
                      </a:solidFill>
                      <a:prstDash val="solid"/>
                      <a:round/>
                      <a:headEnd type="none" w="med" len="med"/>
                      <a:tailEnd type="none" w="med" len="med"/>
                    </a:lnB>
                    <a:solidFill>
                      <a:srgbClr val="EEF0E7"/>
                    </a:solidFill>
                  </a:tcPr>
                </a:tc>
                <a:tc>
                  <a:txBody>
                    <a:bodyPr/>
                    <a:lstStyle/>
                    <a:p>
                      <a:pPr algn="r" indent="0" marL="0">
                        <a:lnSpc>
                          <a:spcPts val="1960"/>
                        </a:lnSpc>
                        <a:buNone/>
                      </a:pPr>
                      <a:r>
                        <a:rPr lang="en-US" sz="1400" dirty="0">
                          <a:solidFill>
                            <a:srgbClr val="18313B"/>
                          </a:solidFill>
                          <a:latin typeface="DM Sans" pitchFamily="34" charset="0"/>
                          <a:ea typeface="DM Sans" pitchFamily="34" charset="-122"/>
                          <a:cs typeface="DM Sans" pitchFamily="34" charset="-120"/>
                        </a:rPr>
                        <a:t>0.945</a:t>
                      </a:r>
                      <a:endParaRPr lang="en-US" sz="1400" dirty="0">
                        <a:latin typeface="DM Sans" charset="0"/>
                        <a:ea typeface="DM Sans" charset="0"/>
                        <a:cs typeface="DM Sans" charset="0"/>
                      </a:endParaRPr>
                    </a:p>
                  </a:txBody>
                  <a:tcPr marL="62230" marR="62230" marT="62230" marB="62230" anchor="t">
                    <a:lnL w="12700" cap="flat" cmpd="sng" algn="ctr">
                      <a:solidFill>
                        <a:srgbClr val="BEC0B8"/>
                      </a:solidFill>
                      <a:prstDash val="solid"/>
                      <a:round/>
                      <a:headEnd type="none" w="med" len="med"/>
                      <a:tailEnd type="none" w="med" len="med"/>
                    </a:lnL>
                    <a:lnR w="12700" cap="flat" cmpd="sng" algn="ctr">
                      <a:solidFill>
                        <a:srgbClr val="BEC0B8"/>
                      </a:solidFill>
                      <a:prstDash val="solid"/>
                      <a:round/>
                      <a:headEnd type="none" w="med" len="med"/>
                      <a:tailEnd type="none" w="med" len="med"/>
                    </a:lnR>
                    <a:lnT w="12700" cap="flat" cmpd="sng" algn="ctr">
                      <a:solidFill>
                        <a:srgbClr val="C4C0B9"/>
                      </a:solidFill>
                      <a:prstDash val="solid"/>
                      <a:round/>
                      <a:headEnd type="none" w="med" len="med"/>
                      <a:tailEnd type="none" w="med" len="med"/>
                    </a:lnT>
                    <a:lnB w="12700" cap="flat" cmpd="sng" algn="ctr">
                      <a:solidFill>
                        <a:srgbClr val="BEC0B8"/>
                      </a:solidFill>
                      <a:prstDash val="solid"/>
                      <a:round/>
                      <a:headEnd type="none" w="med" len="med"/>
                      <a:tailEnd type="none" w="med" len="med"/>
                    </a:lnB>
                    <a:solidFill>
                      <a:srgbClr val="EEF0E7"/>
                    </a:solidFill>
                  </a:tcPr>
                </a:tc>
              </a:tr>
              <a:tr h="385961">
                <a:tc>
                  <a:txBody>
                    <a:bodyPr/>
                    <a:lstStyle/>
                    <a:p>
                      <a:pPr indent="0" marL="0">
                        <a:lnSpc>
                          <a:spcPts val="1960"/>
                        </a:lnSpc>
                        <a:buNone/>
                      </a:pPr>
                      <a:r>
                        <a:rPr lang="en-US" sz="1400" dirty="0">
                          <a:solidFill>
                            <a:srgbClr val="18313B"/>
                          </a:solidFill>
                          <a:latin typeface="DM Sans" pitchFamily="34" charset="0"/>
                          <a:ea typeface="DM Sans" pitchFamily="34" charset="-122"/>
                          <a:cs typeface="DM Sans" pitchFamily="34" charset="-120"/>
                        </a:rPr>
                        <a:t>Linear Regression</a:t>
                      </a:r>
                      <a:endParaRPr lang="en-US" sz="1400" dirty="0">
                        <a:latin typeface="DM Sans" charset="0"/>
                        <a:ea typeface="DM Sans" charset="0"/>
                        <a:cs typeface="DM Sans" charset="0"/>
                      </a:endParaRPr>
                    </a:p>
                  </a:txBody>
                  <a:tcPr marL="62230" marR="62230" marT="62230" marB="62230" anchor="t">
                    <a:lnL w="12700" cap="flat" cmpd="sng" algn="ctr">
                      <a:solidFill>
                        <a:srgbClr val="C4C0B9"/>
                      </a:solidFill>
                      <a:prstDash val="solid"/>
                      <a:round/>
                      <a:headEnd type="none" w="med" len="med"/>
                      <a:tailEnd type="none" w="med" len="med"/>
                    </a:lnL>
                    <a:lnR w="12700" cap="flat" cmpd="sng" algn="ctr">
                      <a:solidFill>
                        <a:srgbClr val="C4C0B9"/>
                      </a:solidFill>
                      <a:prstDash val="solid"/>
                      <a:round/>
                      <a:headEnd type="none" w="med" len="med"/>
                      <a:tailEnd type="none" w="med" len="med"/>
                    </a:lnR>
                    <a:lnT w="12700" cap="flat" cmpd="sng" algn="ctr">
                      <a:solidFill>
                        <a:srgbClr val="BEC0B8"/>
                      </a:solidFill>
                      <a:prstDash val="solid"/>
                      <a:round/>
                      <a:headEnd type="none" w="med" len="med"/>
                      <a:tailEnd type="none" w="med" len="med"/>
                    </a:lnT>
                    <a:lnB w="12700" cap="flat" cmpd="sng" algn="ctr">
                      <a:solidFill>
                        <a:srgbClr val="C4C0B9"/>
                      </a:solidFill>
                      <a:prstDash val="solid"/>
                      <a:round/>
                      <a:headEnd type="none" w="med" len="med"/>
                      <a:tailEnd type="none" w="med" len="med"/>
                    </a:lnB>
                  </a:tcPr>
                </a:tc>
                <a:tc>
                  <a:txBody>
                    <a:bodyPr/>
                    <a:lstStyle/>
                    <a:p>
                      <a:pPr algn="r" indent="0" marL="0">
                        <a:lnSpc>
                          <a:spcPts val="1960"/>
                        </a:lnSpc>
                        <a:buNone/>
                      </a:pPr>
                      <a:r>
                        <a:rPr lang="en-US" sz="1400" dirty="0">
                          <a:solidFill>
                            <a:srgbClr val="18313B"/>
                          </a:solidFill>
                          <a:latin typeface="DM Sans" pitchFamily="34" charset="0"/>
                          <a:ea typeface="DM Sans" pitchFamily="34" charset="-122"/>
                          <a:cs typeface="DM Sans" pitchFamily="34" charset="-120"/>
                        </a:rPr>
                        <a:t>3.54</a:t>
                      </a:r>
                      <a:endParaRPr lang="en-US" sz="1400" dirty="0">
                        <a:latin typeface="DM Sans" charset="0"/>
                        <a:ea typeface="DM Sans" charset="0"/>
                        <a:cs typeface="DM Sans" charset="0"/>
                      </a:endParaRPr>
                    </a:p>
                  </a:txBody>
                  <a:tcPr marL="62230" marR="62230" marT="62230" marB="62230" anchor="t">
                    <a:lnL w="12700" cap="flat" cmpd="sng" algn="ctr">
                      <a:solidFill>
                        <a:srgbClr val="C4C0B9"/>
                      </a:solidFill>
                      <a:prstDash val="solid"/>
                      <a:round/>
                      <a:headEnd type="none" w="med" len="med"/>
                      <a:tailEnd type="none" w="med" len="med"/>
                    </a:lnL>
                    <a:lnR w="12700" cap="flat" cmpd="sng" algn="ctr">
                      <a:solidFill>
                        <a:srgbClr val="C4C0B9"/>
                      </a:solidFill>
                      <a:prstDash val="solid"/>
                      <a:round/>
                      <a:headEnd type="none" w="med" len="med"/>
                      <a:tailEnd type="none" w="med" len="med"/>
                    </a:lnR>
                    <a:lnT w="12700" cap="flat" cmpd="sng" algn="ctr">
                      <a:solidFill>
                        <a:srgbClr val="BEC0B8"/>
                      </a:solidFill>
                      <a:prstDash val="solid"/>
                      <a:round/>
                      <a:headEnd type="none" w="med" len="med"/>
                      <a:tailEnd type="none" w="med" len="med"/>
                    </a:lnT>
                    <a:lnB w="12700" cap="flat" cmpd="sng" algn="ctr">
                      <a:solidFill>
                        <a:srgbClr val="C4C0B9"/>
                      </a:solidFill>
                      <a:prstDash val="solid"/>
                      <a:round/>
                      <a:headEnd type="none" w="med" len="med"/>
                      <a:tailEnd type="none" w="med" len="med"/>
                    </a:lnB>
                  </a:tcPr>
                </a:tc>
                <a:tc>
                  <a:txBody>
                    <a:bodyPr/>
                    <a:lstStyle/>
                    <a:p>
                      <a:pPr algn="r" indent="0" marL="0">
                        <a:lnSpc>
                          <a:spcPts val="1960"/>
                        </a:lnSpc>
                        <a:buNone/>
                      </a:pPr>
                      <a:r>
                        <a:rPr lang="en-US" sz="1400" dirty="0">
                          <a:solidFill>
                            <a:srgbClr val="18313B"/>
                          </a:solidFill>
                          <a:latin typeface="DM Sans" pitchFamily="34" charset="0"/>
                          <a:ea typeface="DM Sans" pitchFamily="34" charset="-122"/>
                          <a:cs typeface="DM Sans" pitchFamily="34" charset="-120"/>
                        </a:rPr>
                        <a:t>5.00</a:t>
                      </a:r>
                      <a:endParaRPr lang="en-US" sz="1400" dirty="0">
                        <a:latin typeface="DM Sans" charset="0"/>
                        <a:ea typeface="DM Sans" charset="0"/>
                        <a:cs typeface="DM Sans" charset="0"/>
                      </a:endParaRPr>
                    </a:p>
                  </a:txBody>
                  <a:tcPr marL="62230" marR="62230" marT="62230" marB="62230" anchor="t">
                    <a:lnL w="12700" cap="flat" cmpd="sng" algn="ctr">
                      <a:solidFill>
                        <a:srgbClr val="C4C0B9"/>
                      </a:solidFill>
                      <a:prstDash val="solid"/>
                      <a:round/>
                      <a:headEnd type="none" w="med" len="med"/>
                      <a:tailEnd type="none" w="med" len="med"/>
                    </a:lnL>
                    <a:lnR w="12700" cap="flat" cmpd="sng" algn="ctr">
                      <a:solidFill>
                        <a:srgbClr val="C4C0B9"/>
                      </a:solidFill>
                      <a:prstDash val="solid"/>
                      <a:round/>
                      <a:headEnd type="none" w="med" len="med"/>
                      <a:tailEnd type="none" w="med" len="med"/>
                    </a:lnR>
                    <a:lnT w="12700" cap="flat" cmpd="sng" algn="ctr">
                      <a:solidFill>
                        <a:srgbClr val="BEC0B8"/>
                      </a:solidFill>
                      <a:prstDash val="solid"/>
                      <a:round/>
                      <a:headEnd type="none" w="med" len="med"/>
                      <a:tailEnd type="none" w="med" len="med"/>
                    </a:lnT>
                    <a:lnB w="12700" cap="flat" cmpd="sng" algn="ctr">
                      <a:solidFill>
                        <a:srgbClr val="C4C0B9"/>
                      </a:solidFill>
                      <a:prstDash val="solid"/>
                      <a:round/>
                      <a:headEnd type="none" w="med" len="med"/>
                      <a:tailEnd type="none" w="med" len="med"/>
                    </a:lnB>
                  </a:tcPr>
                </a:tc>
                <a:tc>
                  <a:txBody>
                    <a:bodyPr/>
                    <a:lstStyle/>
                    <a:p>
                      <a:pPr algn="r" indent="0" marL="0">
                        <a:lnSpc>
                          <a:spcPts val="1960"/>
                        </a:lnSpc>
                        <a:buNone/>
                      </a:pPr>
                      <a:r>
                        <a:rPr lang="en-US" sz="1400" dirty="0">
                          <a:solidFill>
                            <a:srgbClr val="18313B"/>
                          </a:solidFill>
                          <a:latin typeface="DM Sans" pitchFamily="34" charset="0"/>
                          <a:ea typeface="DM Sans" pitchFamily="34" charset="-122"/>
                          <a:cs typeface="DM Sans" pitchFamily="34" charset="-120"/>
                        </a:rPr>
                        <a:t>0.874</a:t>
                      </a:r>
                      <a:endParaRPr lang="en-US" sz="1400" dirty="0">
                        <a:latin typeface="DM Sans" charset="0"/>
                        <a:ea typeface="DM Sans" charset="0"/>
                        <a:cs typeface="DM Sans" charset="0"/>
                      </a:endParaRPr>
                    </a:p>
                  </a:txBody>
                  <a:tcPr marL="62230" marR="62230" marT="62230" marB="62230" anchor="t">
                    <a:lnL w="12700" cap="flat" cmpd="sng" algn="ctr">
                      <a:solidFill>
                        <a:srgbClr val="C4C0B9"/>
                      </a:solidFill>
                      <a:prstDash val="solid"/>
                      <a:round/>
                      <a:headEnd type="none" w="med" len="med"/>
                      <a:tailEnd type="none" w="med" len="med"/>
                    </a:lnL>
                    <a:lnR w="12700" cap="flat" cmpd="sng" algn="ctr">
                      <a:solidFill>
                        <a:srgbClr val="C4C0B9"/>
                      </a:solidFill>
                      <a:prstDash val="solid"/>
                      <a:round/>
                      <a:headEnd type="none" w="med" len="med"/>
                      <a:tailEnd type="none" w="med" len="med"/>
                    </a:lnR>
                    <a:lnT w="12700" cap="flat" cmpd="sng" algn="ctr">
                      <a:solidFill>
                        <a:srgbClr val="BEC0B8"/>
                      </a:solidFill>
                      <a:prstDash val="solid"/>
                      <a:round/>
                      <a:headEnd type="none" w="med" len="med"/>
                      <a:tailEnd type="none" w="med" len="med"/>
                    </a:lnT>
                    <a:lnB w="12700" cap="flat" cmpd="sng" algn="ctr">
                      <a:solidFill>
                        <a:srgbClr val="C4C0B9"/>
                      </a:solidFill>
                      <a:prstDash val="solid"/>
                      <a:round/>
                      <a:headEnd type="none" w="med" len="med"/>
                      <a:tailEnd type="none" w="med" len="med"/>
                    </a:lnB>
                  </a:tcPr>
                </a:tc>
              </a:tr>
              <a:tr h="385961">
                <a:tc>
                  <a:txBody>
                    <a:bodyPr/>
                    <a:lstStyle/>
                    <a:p>
                      <a:pPr indent="0" marL="0">
                        <a:lnSpc>
                          <a:spcPts val="1960"/>
                        </a:lnSpc>
                        <a:buNone/>
                      </a:pPr>
                      <a:r>
                        <a:rPr lang="en-US" sz="1400" dirty="0">
                          <a:solidFill>
                            <a:srgbClr val="18313B"/>
                          </a:solidFill>
                          <a:latin typeface="DM Sans" pitchFamily="34" charset="0"/>
                          <a:ea typeface="DM Sans" pitchFamily="34" charset="-122"/>
                          <a:cs typeface="DM Sans" pitchFamily="34" charset="-120"/>
                        </a:rPr>
                        <a:t>Mean baseline</a:t>
                      </a:r>
                      <a:endParaRPr lang="en-US" sz="1400" dirty="0">
                        <a:latin typeface="DM Sans" charset="0"/>
                        <a:ea typeface="DM Sans" charset="0"/>
                        <a:cs typeface="DM Sans" charset="0"/>
                      </a:endParaRPr>
                    </a:p>
                  </a:txBody>
                  <a:tcPr marL="62230" marR="62230" marT="62230" marB="62230" anchor="t">
                    <a:lnL w="12700" cap="flat" cmpd="sng" algn="ctr">
                      <a:solidFill>
                        <a:srgbClr val="C4C0B9"/>
                      </a:solidFill>
                      <a:prstDash val="solid"/>
                      <a:round/>
                      <a:headEnd type="none" w="med" len="med"/>
                      <a:tailEnd type="none" w="med" len="med"/>
                    </a:lnL>
                    <a:lnR w="12700" cap="flat" cmpd="sng" algn="ctr">
                      <a:solidFill>
                        <a:srgbClr val="C4C0B9"/>
                      </a:solidFill>
                      <a:prstDash val="solid"/>
                      <a:round/>
                      <a:headEnd type="none" w="med" len="med"/>
                      <a:tailEnd type="none" w="med" len="med"/>
                    </a:lnR>
                    <a:lnT w="12700" cap="flat" cmpd="sng" algn="ctr">
                      <a:solidFill>
                        <a:srgbClr val="C4C0B9"/>
                      </a:solidFill>
                      <a:prstDash val="solid"/>
                      <a:round/>
                      <a:headEnd type="none" w="med" len="med"/>
                      <a:tailEnd type="none" w="med" len="med"/>
                    </a:lnT>
                    <a:lnB w="12700" cap="flat" cmpd="sng" algn="ctr">
                      <a:solidFill>
                        <a:srgbClr val="C4C0B9"/>
                      </a:solidFill>
                      <a:prstDash val="solid"/>
                      <a:round/>
                      <a:headEnd type="none" w="med" len="med"/>
                      <a:tailEnd type="none" w="med" len="med"/>
                    </a:lnB>
                  </a:tcPr>
                </a:tc>
                <a:tc>
                  <a:txBody>
                    <a:bodyPr/>
                    <a:lstStyle/>
                    <a:p>
                      <a:pPr algn="r" indent="0" marL="0">
                        <a:lnSpc>
                          <a:spcPts val="1960"/>
                        </a:lnSpc>
                        <a:buNone/>
                      </a:pPr>
                      <a:r>
                        <a:rPr lang="en-US" sz="1400" dirty="0">
                          <a:solidFill>
                            <a:srgbClr val="18313B"/>
                          </a:solidFill>
                          <a:latin typeface="DM Sans" pitchFamily="34" charset="0"/>
                          <a:ea typeface="DM Sans" pitchFamily="34" charset="-122"/>
                          <a:cs typeface="DM Sans" pitchFamily="34" charset="-120"/>
                        </a:rPr>
                        <a:t>11.30</a:t>
                      </a:r>
                      <a:endParaRPr lang="en-US" sz="1400" dirty="0">
                        <a:latin typeface="DM Sans" charset="0"/>
                        <a:ea typeface="DM Sans" charset="0"/>
                        <a:cs typeface="DM Sans" charset="0"/>
                      </a:endParaRPr>
                    </a:p>
                  </a:txBody>
                  <a:tcPr marL="62230" marR="62230" marT="62230" marB="62230" anchor="t">
                    <a:lnL w="12700" cap="flat" cmpd="sng" algn="ctr">
                      <a:solidFill>
                        <a:srgbClr val="C4C0B9"/>
                      </a:solidFill>
                      <a:prstDash val="solid"/>
                      <a:round/>
                      <a:headEnd type="none" w="med" len="med"/>
                      <a:tailEnd type="none" w="med" len="med"/>
                    </a:lnL>
                    <a:lnR w="12700" cap="flat" cmpd="sng" algn="ctr">
                      <a:solidFill>
                        <a:srgbClr val="C4C0B9"/>
                      </a:solidFill>
                      <a:prstDash val="solid"/>
                      <a:round/>
                      <a:headEnd type="none" w="med" len="med"/>
                      <a:tailEnd type="none" w="med" len="med"/>
                    </a:lnR>
                    <a:lnT w="12700" cap="flat" cmpd="sng" algn="ctr">
                      <a:solidFill>
                        <a:srgbClr val="C4C0B9"/>
                      </a:solidFill>
                      <a:prstDash val="solid"/>
                      <a:round/>
                      <a:headEnd type="none" w="med" len="med"/>
                      <a:tailEnd type="none" w="med" len="med"/>
                    </a:lnT>
                    <a:lnB w="12700" cap="flat" cmpd="sng" algn="ctr">
                      <a:solidFill>
                        <a:srgbClr val="C4C0B9"/>
                      </a:solidFill>
                      <a:prstDash val="solid"/>
                      <a:round/>
                      <a:headEnd type="none" w="med" len="med"/>
                      <a:tailEnd type="none" w="med" len="med"/>
                    </a:lnB>
                  </a:tcPr>
                </a:tc>
                <a:tc>
                  <a:txBody>
                    <a:bodyPr/>
                    <a:lstStyle/>
                    <a:p>
                      <a:pPr algn="r" indent="0" marL="0">
                        <a:lnSpc>
                          <a:spcPts val="1960"/>
                        </a:lnSpc>
                        <a:buNone/>
                      </a:pPr>
                      <a:r>
                        <a:rPr lang="en-US" sz="1400" dirty="0">
                          <a:solidFill>
                            <a:srgbClr val="18313B"/>
                          </a:solidFill>
                          <a:latin typeface="DM Sans" pitchFamily="34" charset="0"/>
                          <a:ea typeface="DM Sans" pitchFamily="34" charset="-122"/>
                          <a:cs typeface="DM Sans" pitchFamily="34" charset="-120"/>
                        </a:rPr>
                        <a:t>14.10</a:t>
                      </a:r>
                      <a:endParaRPr lang="en-US" sz="1400" dirty="0">
                        <a:latin typeface="DM Sans" charset="0"/>
                        <a:ea typeface="DM Sans" charset="0"/>
                        <a:cs typeface="DM Sans" charset="0"/>
                      </a:endParaRPr>
                    </a:p>
                  </a:txBody>
                  <a:tcPr marL="62230" marR="62230" marT="62230" marB="62230" anchor="t">
                    <a:lnL w="12700" cap="flat" cmpd="sng" algn="ctr">
                      <a:solidFill>
                        <a:srgbClr val="C4C0B9"/>
                      </a:solidFill>
                      <a:prstDash val="solid"/>
                      <a:round/>
                      <a:headEnd type="none" w="med" len="med"/>
                      <a:tailEnd type="none" w="med" len="med"/>
                    </a:lnL>
                    <a:lnR w="12700" cap="flat" cmpd="sng" algn="ctr">
                      <a:solidFill>
                        <a:srgbClr val="C4C0B9"/>
                      </a:solidFill>
                      <a:prstDash val="solid"/>
                      <a:round/>
                      <a:headEnd type="none" w="med" len="med"/>
                      <a:tailEnd type="none" w="med" len="med"/>
                    </a:lnR>
                    <a:lnT w="12700" cap="flat" cmpd="sng" algn="ctr">
                      <a:solidFill>
                        <a:srgbClr val="C4C0B9"/>
                      </a:solidFill>
                      <a:prstDash val="solid"/>
                      <a:round/>
                      <a:headEnd type="none" w="med" len="med"/>
                      <a:tailEnd type="none" w="med" len="med"/>
                    </a:lnT>
                    <a:lnB w="12700" cap="flat" cmpd="sng" algn="ctr">
                      <a:solidFill>
                        <a:srgbClr val="C4C0B9"/>
                      </a:solidFill>
                      <a:prstDash val="solid"/>
                      <a:round/>
                      <a:headEnd type="none" w="med" len="med"/>
                      <a:tailEnd type="none" w="med" len="med"/>
                    </a:lnB>
                  </a:tcPr>
                </a:tc>
                <a:tc>
                  <a:txBody>
                    <a:bodyPr/>
                    <a:lstStyle/>
                    <a:p>
                      <a:pPr algn="r" indent="0" marL="0">
                        <a:lnSpc>
                          <a:spcPts val="1960"/>
                        </a:lnSpc>
                        <a:buNone/>
                      </a:pPr>
                      <a:r>
                        <a:rPr lang="en-US" sz="1400" dirty="0">
                          <a:solidFill>
                            <a:srgbClr val="18313B"/>
                          </a:solidFill>
                          <a:latin typeface="DM Sans" pitchFamily="34" charset="0"/>
                          <a:ea typeface="DM Sans" pitchFamily="34" charset="-122"/>
                          <a:cs typeface="DM Sans" pitchFamily="34" charset="-120"/>
                        </a:rPr>
                        <a:t>0.000</a:t>
                      </a:r>
                      <a:endParaRPr lang="en-US" sz="1400" dirty="0">
                        <a:latin typeface="DM Sans" charset="0"/>
                        <a:ea typeface="DM Sans" charset="0"/>
                        <a:cs typeface="DM Sans" charset="0"/>
                      </a:endParaRPr>
                    </a:p>
                  </a:txBody>
                  <a:tcPr marL="62230" marR="62230" marT="62230" marB="62230" anchor="t">
                    <a:lnL w="12700" cap="flat" cmpd="sng" algn="ctr">
                      <a:solidFill>
                        <a:srgbClr val="C4C0B9"/>
                      </a:solidFill>
                      <a:prstDash val="solid"/>
                      <a:round/>
                      <a:headEnd type="none" w="med" len="med"/>
                      <a:tailEnd type="none" w="med" len="med"/>
                    </a:lnL>
                    <a:lnR w="12700" cap="flat" cmpd="sng" algn="ctr">
                      <a:solidFill>
                        <a:srgbClr val="C4C0B9"/>
                      </a:solidFill>
                      <a:prstDash val="solid"/>
                      <a:round/>
                      <a:headEnd type="none" w="med" len="med"/>
                      <a:tailEnd type="none" w="med" len="med"/>
                    </a:lnR>
                    <a:lnT w="12700" cap="flat" cmpd="sng" algn="ctr">
                      <a:solidFill>
                        <a:srgbClr val="C4C0B9"/>
                      </a:solidFill>
                      <a:prstDash val="solid"/>
                      <a:round/>
                      <a:headEnd type="none" w="med" len="med"/>
                      <a:tailEnd type="none" w="med" len="med"/>
                    </a:lnT>
                    <a:lnB w="12700" cap="flat" cmpd="sng" algn="ctr">
                      <a:solidFill>
                        <a:srgbClr val="C4C0B9"/>
                      </a:solidFill>
                      <a:prstDash val="solid"/>
                      <a:round/>
                      <a:headEnd type="none" w="med" len="med"/>
                      <a:tailEnd type="none" w="med" len="med"/>
                    </a:lnB>
                  </a:tcPr>
                </a:tc>
              </a:tr>
            </a:tbl>
          </a:graphicData>
        </a:graphic>
      </p:graphicFrame>
      <p:sp>
        <p:nvSpPr>
          <p:cNvPr id="5" name="Shape 2"/>
          <p:cNvSpPr/>
          <p:nvPr/>
        </p:nvSpPr>
        <p:spPr>
          <a:xfrm>
            <a:off x="7467600" y="1884561"/>
            <a:ext cx="3911600" cy="2328466"/>
          </a:xfrm>
          <a:prstGeom prst="roundRect">
            <a:avLst>
              <a:gd name="adj" fmla="val 4363"/>
            </a:avLst>
          </a:prstGeom>
          <a:solidFill>
            <a:srgbClr val="18313B"/>
          </a:solidFill>
          <a:ln/>
        </p:spPr>
      </p:sp>
      <p:sp>
        <p:nvSpPr>
          <p:cNvPr id="6" name="Text 3"/>
          <p:cNvSpPr/>
          <p:nvPr/>
        </p:nvSpPr>
        <p:spPr>
          <a:xfrm>
            <a:off x="7721600" y="2138561"/>
            <a:ext cx="3505708"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CFA859"/>
                </a:solidFill>
                <a:latin typeface="DM Sans" pitchFamily="34" charset="0"/>
                <a:ea typeface="DM Sans" pitchFamily="34" charset="-122"/>
                <a:cs typeface="DM Sans" pitchFamily="34" charset="-120"/>
              </a:rPr>
              <a:t>5-FOLD CROSS-VALIDATION</a:t>
            </a:r>
            <a:endParaRPr lang="en-US" sz="1200" dirty="0"/>
          </a:p>
        </p:txBody>
      </p:sp>
      <p:sp>
        <p:nvSpPr>
          <p:cNvPr id="7" name="Text 4"/>
          <p:cNvSpPr/>
          <p:nvPr/>
        </p:nvSpPr>
        <p:spPr>
          <a:xfrm>
            <a:off x="7721600" y="2453481"/>
            <a:ext cx="3505708" cy="635000"/>
          </a:xfrm>
          <a:prstGeom prst="rect">
            <a:avLst/>
          </a:prstGeom>
          <a:noFill/>
          <a:ln/>
        </p:spPr>
        <p:txBody>
          <a:bodyPr wrap="square" lIns="0" tIns="0" rIns="0" bIns="0" rtlCol="0" anchor="t">
            <a:normAutofit/>
          </a:bodyPr>
          <a:lstStyle/>
          <a:p>
            <a:pPr algn="l" indent="0" marL="0">
              <a:lnSpc>
                <a:spcPts val="4800"/>
              </a:lnSpc>
              <a:buNone/>
            </a:pPr>
            <a:r>
              <a:rPr lang="en-US" sz="4800" dirty="0">
                <a:solidFill>
                  <a:srgbClr val="F5F1E8"/>
                </a:solidFill>
                <a:latin typeface="DM Serif Display" pitchFamily="18" charset="0"/>
                <a:ea typeface="DM Serif Display" pitchFamily="18" charset="-122"/>
                <a:cs typeface="DM Serif Display" pitchFamily="18" charset="-120"/>
              </a:rPr>
              <a:t>0.946</a:t>
            </a:r>
            <a:endParaRPr lang="en-US" sz="4800" dirty="0"/>
          </a:p>
        </p:txBody>
      </p:sp>
      <p:sp>
        <p:nvSpPr>
          <p:cNvPr id="8" name="Text 5"/>
          <p:cNvSpPr/>
          <p:nvPr/>
        </p:nvSpPr>
        <p:spPr>
          <a:xfrm>
            <a:off x="7721600" y="3164681"/>
            <a:ext cx="3505708" cy="505420"/>
          </a:xfrm>
          <a:prstGeom prst="rect">
            <a:avLst/>
          </a:prstGeom>
          <a:noFill/>
          <a:ln/>
        </p:spPr>
        <p:txBody>
          <a:bodyPr wrap="square" lIns="0" tIns="0" rIns="0" bIns="0" rtlCol="0" anchor="t">
            <a:normAutofit/>
          </a:bodyPr>
          <a:lstStyle/>
          <a:p>
            <a:pPr algn="l" indent="0" marL="0">
              <a:lnSpc>
                <a:spcPts val="1890"/>
              </a:lnSpc>
              <a:buNone/>
            </a:pPr>
            <a:r>
              <a:rPr lang="en-US" sz="1500" dirty="0">
                <a:solidFill>
                  <a:srgbClr val="CFD6D2"/>
                </a:solidFill>
                <a:latin typeface="DM Sans" pitchFamily="34" charset="0"/>
                <a:ea typeface="DM Sans" pitchFamily="34" charset="-122"/>
                <a:cs typeface="DM Sans" pitchFamily="34" charset="-120"/>
              </a:rPr>
              <a:t>Cross-validation R² = 0.946 ± 0.002; hold-out test set = 1,000 synthetic records.</a:t>
            </a:r>
            <a:endParaRPr lang="en-US" sz="1400" dirty="0"/>
          </a:p>
        </p:txBody>
      </p:sp>
      <p:sp>
        <p:nvSpPr>
          <p:cNvPr id="9" name="Shape 6"/>
          <p:cNvSpPr/>
          <p:nvPr/>
        </p:nvSpPr>
        <p:spPr>
          <a:xfrm>
            <a:off x="831850" y="5473700"/>
            <a:ext cx="0" cy="368300"/>
          </a:xfrm>
          <a:prstGeom prst="line">
            <a:avLst/>
          </a:prstGeom>
          <a:noFill/>
          <a:ln w="38100">
            <a:solidFill>
              <a:srgbClr val="CFA859"/>
            </a:solidFill>
            <a:prstDash val="solid"/>
          </a:ln>
        </p:spPr>
      </p:sp>
      <p:sp>
        <p:nvSpPr>
          <p:cNvPr id="10" name="Text 7"/>
          <p:cNvSpPr/>
          <p:nvPr/>
        </p:nvSpPr>
        <p:spPr>
          <a:xfrm>
            <a:off x="1054100" y="5524500"/>
            <a:ext cx="10634853" cy="292100"/>
          </a:xfrm>
          <a:prstGeom prst="rect">
            <a:avLst/>
          </a:prstGeom>
          <a:noFill/>
          <a:ln/>
        </p:spPr>
        <p:txBody>
          <a:bodyPr wrap="square" lIns="0" tIns="0" rIns="0" bIns="0" rtlCol="0" anchor="t">
            <a:normAutofit/>
          </a:bodyPr>
          <a:lstStyle/>
          <a:p>
            <a:pPr algn="l" indent="0" marL="0">
              <a:lnSpc>
                <a:spcPts val="2100"/>
              </a:lnSpc>
              <a:buNone/>
            </a:pPr>
            <a:r>
              <a:rPr lang="en-US" sz="1600" dirty="0">
                <a:solidFill>
                  <a:srgbClr val="18313B"/>
                </a:solidFill>
                <a:latin typeface="DM Sans" pitchFamily="34" charset="0"/>
                <a:ea typeface="DM Sans" pitchFamily="34" charset="-122"/>
                <a:cs typeface="DM Sans" pitchFamily="34" charset="-120"/>
              </a:rPr>
              <a:t>These metrics show agreement with formula-generated scores—not validated real-world financial wellness.</a:t>
            </a:r>
            <a:r>
              <a:rPr lang="en-US" sz="1600" b="1" dirty="0">
                <a:solidFill>
                  <a:srgbClr val="18313B"/>
                </a:solidFill>
                <a:latin typeface="DM Sans" pitchFamily="34" charset="0"/>
                <a:ea typeface="DM Sans" pitchFamily="34" charset="-122"/>
                <a:cs typeface="DM Sans" pitchFamily="34" charset="-120"/>
              </a:rPr>
              <a:t/>
            </a:r>
            <a:endParaRPr lang="en-US" sz="1500" dirty="0"/>
          </a:p>
        </p:txBody>
      </p:sp>
      <p:sp>
        <p:nvSpPr>
          <p:cNvPr id="11" name="Text 8"/>
          <p:cNvSpPr/>
          <p:nvPr/>
        </p:nvSpPr>
        <p:spPr>
          <a:xfrm>
            <a:off x="812800" y="6238280"/>
            <a:ext cx="5886450" cy="238720"/>
          </a:xfrm>
          <a:prstGeom prst="rect">
            <a:avLst/>
          </a:prstGeom>
          <a:noFill/>
          <a:ln/>
        </p:spPr>
        <p:txBody>
          <a:bodyPr wrap="square" lIns="0" tIns="0" rIns="0" bIns="0" rtlCol="0" anchor="t">
            <a:normAutofit/>
          </a:bodyPr>
          <a:lstStyle/>
          <a:p>
            <a:pPr algn="l" indent="0" marL="0">
              <a:lnSpc>
                <a:spcPts val="1680"/>
              </a:lnSpc>
              <a:buNone/>
            </a:pPr>
            <a:r>
              <a:rPr lang="en-US" sz="1000" dirty="0">
                <a:solidFill>
                  <a:srgbClr val="62665F"/>
                </a:solidFill>
                <a:latin typeface="DM Sans" pitchFamily="34" charset="0"/>
                <a:ea typeface="DM Sans" pitchFamily="34" charset="-122"/>
                <a:cs typeface="DM Sans" pitchFamily="34" charset="-120"/>
              </a:rPr>
              <a:t>Hold-out test results · MAE/RMSE are score points · synthetic targets</a:t>
            </a:r>
            <a:endParaRPr lang="en-US" sz="1200" dirty="0"/>
          </a:p>
        </p:txBody>
      </p:sp>
      <p:sp>
        <p:nvSpPr>
          <p:cNvPr id="12" name="Text 9"/>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2665F"/>
                </a:solidFill>
                <a:latin typeface="DM Sans" pitchFamily="34" charset="0"/>
                <a:ea typeface="DM Sans" pitchFamily="34" charset="-122"/>
                <a:cs typeface="DM Sans" pitchFamily="34" charset="-120"/>
              </a:rPr>
              <a:t>06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1E8"/>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3F6549"/>
                </a:solidFill>
                <a:latin typeface="DM Sans" pitchFamily="34" charset="0"/>
                <a:ea typeface="DM Sans" pitchFamily="34" charset="-122"/>
                <a:cs typeface="DM Sans" pitchFamily="34" charset="-120"/>
              </a:rPr>
              <a:t>EXPLAINABILITY</a:t>
            </a:r>
            <a:endParaRPr lang="en-US" sz="1200" dirty="0"/>
          </a:p>
        </p:txBody>
      </p:sp>
      <p:sp>
        <p:nvSpPr>
          <p:cNvPr id="3" name="Text 1"/>
          <p:cNvSpPr/>
          <p:nvPr>
            <p:ph type="title"/>
          </p:nvPr>
        </p:nvSpPr>
        <p:spPr>
          <a:xfrm>
            <a:off x="812800" y="112772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0" i="0" dirty="0">
                <a:solidFill>
                  <a:srgbClr val="18313B"/>
                </a:solidFill>
                <a:latin typeface="DM Serif Display" pitchFamily="18" charset="0"/>
                <a:ea typeface="DM Serif Display" pitchFamily="18" charset="-122"/>
                <a:cs typeface="DM Serif Display" pitchFamily="18" charset="-120"/>
              </a:rPr>
              <a:t>Every score comes with its reasons</a:t>
            </a:r>
            <a:endParaRPr lang="en-US" sz="3600" dirty="0"/>
          </a:p>
        </p:txBody>
      </p:sp>
      <p:sp>
        <p:nvSpPr>
          <p:cNvPr id="4" name="Shape 2"/>
          <p:cNvSpPr/>
          <p:nvPr/>
        </p:nvSpPr>
        <p:spPr>
          <a:xfrm>
            <a:off x="815975" y="1938536"/>
            <a:ext cx="5175250" cy="1454150"/>
          </a:xfrm>
          <a:prstGeom prst="roundRect">
            <a:avLst>
              <a:gd name="adj" fmla="val 6769"/>
            </a:avLst>
          </a:prstGeom>
          <a:solidFill>
            <a:srgbClr val="FFFDF8"/>
          </a:solidFill>
          <a:ln w="6350">
            <a:solidFill>
              <a:srgbClr val="DDD8CC"/>
            </a:solidFill>
            <a:prstDash val="solid"/>
          </a:ln>
        </p:spPr>
      </p:sp>
      <p:sp>
        <p:nvSpPr>
          <p:cNvPr id="5" name="Text 3"/>
          <p:cNvSpPr/>
          <p:nvPr/>
        </p:nvSpPr>
        <p:spPr>
          <a:xfrm>
            <a:off x="1073150" y="2195711"/>
            <a:ext cx="4800727"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8313B"/>
                </a:solidFill>
                <a:latin typeface="DM Sans" pitchFamily="34" charset="0"/>
                <a:ea typeface="DM Sans" pitchFamily="34" charset="-122"/>
                <a:cs typeface="DM Sans" pitchFamily="34" charset="-120"/>
              </a:rPr>
              <a:t>SHAP values</a:t>
            </a:r>
            <a:endParaRPr lang="en-US" sz="2000" dirty="0"/>
          </a:p>
        </p:txBody>
      </p:sp>
      <p:sp>
        <p:nvSpPr>
          <p:cNvPr id="6" name="Text 4"/>
          <p:cNvSpPr/>
          <p:nvPr/>
        </p:nvSpPr>
        <p:spPr>
          <a:xfrm>
            <a:off x="1073150" y="2602111"/>
            <a:ext cx="4800727"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557"/>
                </a:solidFill>
                <a:latin typeface="DM Sans" pitchFamily="34" charset="0"/>
                <a:ea typeface="DM Sans" pitchFamily="34" charset="-122"/>
                <a:cs typeface="DM Sans" pitchFamily="34" charset="-120"/>
              </a:rPr>
              <a:t>Show which factors pushed the estimate up or down, compared with the model’s training baseline.</a:t>
            </a:r>
            <a:endParaRPr lang="en-US" sz="1500" dirty="0"/>
          </a:p>
        </p:txBody>
      </p:sp>
      <p:sp>
        <p:nvSpPr>
          <p:cNvPr id="7" name="Shape 5"/>
          <p:cNvSpPr/>
          <p:nvPr/>
        </p:nvSpPr>
        <p:spPr>
          <a:xfrm>
            <a:off x="6200775" y="1938536"/>
            <a:ext cx="5175250" cy="1454150"/>
          </a:xfrm>
          <a:prstGeom prst="roundRect">
            <a:avLst>
              <a:gd name="adj" fmla="val 6769"/>
            </a:avLst>
          </a:prstGeom>
          <a:solidFill>
            <a:srgbClr val="FFFDF8"/>
          </a:solidFill>
          <a:ln w="6350">
            <a:solidFill>
              <a:srgbClr val="DDD8CC"/>
            </a:solidFill>
            <a:prstDash val="solid"/>
          </a:ln>
        </p:spPr>
      </p:sp>
      <p:sp>
        <p:nvSpPr>
          <p:cNvPr id="8" name="Text 6"/>
          <p:cNvSpPr/>
          <p:nvPr/>
        </p:nvSpPr>
        <p:spPr>
          <a:xfrm>
            <a:off x="6457950" y="2195711"/>
            <a:ext cx="4800727"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18313B"/>
                </a:solidFill>
                <a:latin typeface="DM Sans" pitchFamily="34" charset="0"/>
                <a:ea typeface="DM Sans" pitchFamily="34" charset="-122"/>
                <a:cs typeface="DM Sans" pitchFamily="34" charset="-120"/>
              </a:rPr>
              <a:t>Targets</a:t>
            </a:r>
            <a:endParaRPr lang="en-US" sz="2000" dirty="0"/>
          </a:p>
        </p:txBody>
      </p:sp>
      <p:sp>
        <p:nvSpPr>
          <p:cNvPr id="9" name="Text 7"/>
          <p:cNvSpPr/>
          <p:nvPr/>
        </p:nvSpPr>
        <p:spPr>
          <a:xfrm>
            <a:off x="6457950" y="2602111"/>
            <a:ext cx="4800727"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4A5557"/>
                </a:solidFill>
                <a:latin typeface="DM Sans" pitchFamily="34" charset="0"/>
                <a:ea typeface="DM Sans" pitchFamily="34" charset="-122"/>
                <a:cs typeface="DM Sans" pitchFamily="34" charset="-120"/>
              </a:rPr>
              <a:t>Each factor is marked </a:t>
            </a:r>
            <a:r>
              <a:rPr lang="en-US" sz="1500" b="1" dirty="0">
                <a:solidFill>
                  <a:srgbClr val="4A5557"/>
                </a:solidFill>
                <a:latin typeface="DM Sans" pitchFamily="34" charset="0"/>
                <a:ea typeface="DM Sans" pitchFamily="34" charset="-122"/>
                <a:cs typeface="DM Sans" pitchFamily="34" charset="-120"/>
              </a:rPr>
              <a:t>On track</a:t>
            </a:r>
            <a:r>
              <a:rPr lang="en-US" sz="1500" dirty="0">
                <a:solidFill>
                  <a:srgbClr val="4A5557"/>
                </a:solidFill>
                <a:latin typeface="DM Sans" pitchFamily="34" charset="0"/>
                <a:ea typeface="DM Sans" pitchFamily="34" charset="-122"/>
                <a:cs typeface="DM Sans" pitchFamily="34" charset="-120"/>
              </a:rPr>
              <a:t> or </a:t>
            </a:r>
            <a:r>
              <a:rPr lang="en-US" sz="1500" b="1" dirty="0">
                <a:solidFill>
                  <a:srgbClr val="4A5557"/>
                </a:solidFill>
                <a:latin typeface="DM Sans" pitchFamily="34" charset="0"/>
                <a:ea typeface="DM Sans" pitchFamily="34" charset="-122"/>
                <a:cs typeface="DM Sans" pitchFamily="34" charset="-120"/>
              </a:rPr>
              <a:t>Needs attention</a:t>
            </a:r>
            <a:r>
              <a:rPr lang="en-US" sz="1500" dirty="0">
                <a:solidFill>
                  <a:srgbClr val="4A5557"/>
                </a:solidFill>
                <a:latin typeface="DM Sans" pitchFamily="34" charset="0"/>
                <a:ea typeface="DM Sans" pitchFamily="34" charset="-122"/>
                <a:cs typeface="DM Sans" pitchFamily="34" charset="-120"/>
              </a:rPr>
              <a:t> against a rule-of-thumb target.</a:t>
            </a:r>
            <a:endParaRPr lang="en-US" sz="1500" dirty="0"/>
          </a:p>
        </p:txBody>
      </p:sp>
      <p:sp>
        <p:nvSpPr>
          <p:cNvPr id="10" name="Shape 8"/>
          <p:cNvSpPr/>
          <p:nvPr/>
        </p:nvSpPr>
        <p:spPr>
          <a:xfrm>
            <a:off x="812800" y="3700661"/>
            <a:ext cx="10566400" cy="807641"/>
          </a:xfrm>
          <a:prstGeom prst="roundRect">
            <a:avLst>
              <a:gd name="adj" fmla="val 12580"/>
            </a:avLst>
          </a:prstGeom>
          <a:solidFill>
            <a:srgbClr val="EEF0E7"/>
          </a:solidFill>
          <a:ln/>
        </p:spPr>
      </p:sp>
      <p:sp>
        <p:nvSpPr>
          <p:cNvPr id="11" name="Text 9"/>
          <p:cNvSpPr/>
          <p:nvPr/>
        </p:nvSpPr>
        <p:spPr>
          <a:xfrm>
            <a:off x="1066800" y="3997821"/>
            <a:ext cx="1320800" cy="238720"/>
          </a:xfrm>
          <a:prstGeom prst="rect">
            <a:avLst/>
          </a:prstGeom>
          <a:noFill/>
          <a:ln/>
        </p:spPr>
        <p:txBody>
          <a:bodyPr wrap="square" lIns="0" tIns="0" rIns="0" bIns="0" rtlCol="0" anchor="t">
            <a:normAutofit/>
          </a:bodyPr>
          <a:lstStyle/>
          <a:p>
            <a:pPr algn="l" indent="0" marL="0">
              <a:lnSpc>
                <a:spcPts val="1680"/>
              </a:lnSpc>
              <a:buNone/>
            </a:pPr>
            <a:r>
              <a:rPr lang="en-US" sz="1000" b="1" spc="100" kern="0" dirty="0">
                <a:solidFill>
                  <a:srgbClr val="3F6549"/>
                </a:solidFill>
                <a:latin typeface="DM Sans" pitchFamily="34" charset="0"/>
                <a:ea typeface="DM Sans" pitchFamily="34" charset="-122"/>
                <a:cs typeface="DM Sans" pitchFamily="34" charset="-120"/>
              </a:rPr>
              <a:t>ILLUSTRATIVE EXAMPLE</a:t>
            </a:r>
            <a:endParaRPr lang="en-US" sz="1200" dirty="0"/>
          </a:p>
        </p:txBody>
      </p:sp>
      <p:sp>
        <p:nvSpPr>
          <p:cNvPr id="12" name="Text 10"/>
          <p:cNvSpPr/>
          <p:nvPr/>
        </p:nvSpPr>
        <p:spPr>
          <a:xfrm>
            <a:off x="2489200" y="3962202"/>
            <a:ext cx="6917294"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8313B"/>
                </a:solidFill>
                <a:latin typeface="DM Sans" pitchFamily="34" charset="0"/>
                <a:ea typeface="DM Sans" pitchFamily="34" charset="-122"/>
                <a:cs typeface="DM Sans" pitchFamily="34" charset="-120"/>
              </a:rPr>
              <a:t>Debt repayment burden 38%, target under 30%</a:t>
            </a:r>
            <a:endParaRPr lang="en-US" sz="1600" dirty="0"/>
          </a:p>
        </p:txBody>
      </p:sp>
      <p:sp>
        <p:nvSpPr>
          <p:cNvPr id="13" name="Text 11"/>
          <p:cNvSpPr/>
          <p:nvPr/>
        </p:nvSpPr>
        <p:spPr>
          <a:xfrm>
            <a:off x="9357420" y="3903861"/>
            <a:ext cx="1767780" cy="401241"/>
          </a:xfrm>
          <a:prstGeom prst="roundRect">
            <a:avLst>
              <a:gd name="adj" fmla="val 50000"/>
            </a:avLst>
          </a:prstGeom>
          <a:solidFill>
            <a:srgbClr val="CFA859"/>
          </a:solidFill>
          <a:ln/>
        </p:spPr>
        <p:txBody>
          <a:bodyPr wrap="none" lIns="0" tIns="0" rIns="0" bIns="0" rtlCol="0" anchor="ctr">
            <a:normAutofit/>
          </a:bodyPr>
          <a:lstStyle/>
          <a:p>
            <a:pPr algn="ctr" indent="0" marL="0">
              <a:lnSpc>
                <a:spcPts val="1960"/>
              </a:lnSpc>
              <a:buNone/>
            </a:pPr>
            <a:r>
              <a:rPr lang="en-US" sz="1400" b="1" dirty="0">
                <a:solidFill>
                  <a:srgbClr val="18313B"/>
                </a:solidFill>
                <a:latin typeface="DM Sans" pitchFamily="34" charset="0"/>
                <a:ea typeface="DM Sans" pitchFamily="34" charset="-122"/>
                <a:cs typeface="DM Sans" pitchFamily="34" charset="-120"/>
              </a:rPr>
              <a:t>Needs attention</a:t>
            </a:r>
            <a:endParaRPr lang="en-US" sz="1400" dirty="0"/>
          </a:p>
        </p:txBody>
      </p:sp>
      <p:sp>
        <p:nvSpPr>
          <p:cNvPr id="14" name="Shape 12"/>
          <p:cNvSpPr/>
          <p:nvPr/>
        </p:nvSpPr>
        <p:spPr>
          <a:xfrm>
            <a:off x="831850" y="5473700"/>
            <a:ext cx="0" cy="368300"/>
          </a:xfrm>
          <a:prstGeom prst="line">
            <a:avLst/>
          </a:prstGeom>
          <a:noFill/>
          <a:ln w="38100">
            <a:solidFill>
              <a:srgbClr val="CFA859"/>
            </a:solidFill>
            <a:prstDash val="solid"/>
          </a:ln>
        </p:spPr>
      </p:sp>
      <p:sp>
        <p:nvSpPr>
          <p:cNvPr id="15" name="Text 13"/>
          <p:cNvSpPr/>
          <p:nvPr/>
        </p:nvSpPr>
        <p:spPr>
          <a:xfrm>
            <a:off x="1054100" y="5524500"/>
            <a:ext cx="10634853"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8313B"/>
                </a:solidFill>
                <a:latin typeface="DM Sans" pitchFamily="34" charset="0"/>
                <a:ea typeface="DM Sans" pitchFamily="34" charset="-122"/>
                <a:cs typeface="DM Sans" pitchFamily="34" charset="-120"/>
              </a:rPr>
              <a:t>SHAP explains model contributions, not cause and effect—and says nothing about a person's worth.</a:t>
            </a:r>
            <a:r>
              <a:rPr lang="en-US" sz="1500" b="1" dirty="0">
                <a:solidFill>
                  <a:srgbClr val="18313B"/>
                </a:solidFill>
                <a:latin typeface="DM Sans" pitchFamily="34" charset="0"/>
                <a:ea typeface="DM Sans" pitchFamily="34" charset="-122"/>
                <a:cs typeface="DM Sans" pitchFamily="34" charset="-120"/>
              </a:rPr>
              <a:t/>
            </a:r>
            <a:r>
              <a:rPr lang="en-US" sz="1500" dirty="0">
                <a:solidFill>
                  <a:srgbClr val="18313B"/>
                </a:solidFill>
                <a:latin typeface="DM Sans" pitchFamily="34" charset="0"/>
                <a:ea typeface="DM Sans" pitchFamily="34" charset="-122"/>
                <a:cs typeface="DM Sans" pitchFamily="34" charset="-120"/>
              </a:rPr>
              <a:t/>
            </a:r>
            <a:endParaRPr lang="en-US" sz="1500" dirty="0"/>
          </a:p>
        </p:txBody>
      </p:sp>
      <p:sp>
        <p:nvSpPr>
          <p:cNvPr id="16" name="Text 14"/>
          <p:cNvSpPr/>
          <p:nvPr/>
        </p:nvSpPr>
        <p:spPr>
          <a:xfrm>
            <a:off x="812800" y="6238280"/>
            <a:ext cx="39243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2665F"/>
                </a:solidFill>
                <a:latin typeface="DM Sans" pitchFamily="34" charset="0"/>
                <a:ea typeface="DM Sans" pitchFamily="34" charset="-122"/>
                <a:cs typeface="DM Sans" pitchFamily="34" charset="-120"/>
              </a:rPr>
              <a:t>Wellness Ledger</a:t>
            </a:r>
            <a:endParaRPr lang="en-US" sz="1200" dirty="0"/>
          </a:p>
        </p:txBody>
      </p:sp>
      <p:sp>
        <p:nvSpPr>
          <p:cNvPr id="17" name="Text 15"/>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2665F"/>
                </a:solidFill>
                <a:latin typeface="DM Sans" pitchFamily="34" charset="0"/>
                <a:ea typeface="DM Sans" pitchFamily="34" charset="-122"/>
                <a:cs typeface="DM Sans" pitchFamily="34" charset="-120"/>
              </a:rPr>
              <a:t>07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1E8"/>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3F6549"/>
                </a:solidFill>
                <a:latin typeface="DM Sans" pitchFamily="34" charset="0"/>
                <a:ea typeface="DM Sans" pitchFamily="34" charset="-122"/>
                <a:cs typeface="DM Sans" pitchFamily="34" charset="-120"/>
              </a:rPr>
              <a:t>THE APP</a:t>
            </a:r>
            <a:endParaRPr lang="en-US" sz="1200" dirty="0"/>
          </a:p>
        </p:txBody>
      </p:sp>
      <p:sp>
        <p:nvSpPr>
          <p:cNvPr id="3" name="Text 1"/>
          <p:cNvSpPr/>
          <p:nvPr>
            <p:ph type="title"/>
          </p:nvPr>
        </p:nvSpPr>
        <p:spPr>
          <a:xfrm>
            <a:off x="812800" y="112772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0" i="0" dirty="0">
                <a:solidFill>
                  <a:srgbClr val="18313B"/>
                </a:solidFill>
                <a:latin typeface="DM Serif Display" pitchFamily="18" charset="0"/>
                <a:ea typeface="DM Serif Display" pitchFamily="18" charset="-122"/>
                <a:cs typeface="DM Serif Display" pitchFamily="18" charset="-120"/>
              </a:rPr>
              <a:t>Six capabilities in one Streamlit interface</a:t>
            </a:r>
            <a:endParaRPr lang="en-US" sz="3600" dirty="0"/>
          </a:p>
        </p:txBody>
      </p:sp>
      <p:sp>
        <p:nvSpPr>
          <p:cNvPr id="4" name="Shape 2"/>
          <p:cNvSpPr/>
          <p:nvPr/>
        </p:nvSpPr>
        <p:spPr>
          <a:xfrm>
            <a:off x="815975" y="1887736"/>
            <a:ext cx="3414117" cy="1225352"/>
          </a:xfrm>
          <a:prstGeom prst="roundRect">
            <a:avLst>
              <a:gd name="adj" fmla="val 8032"/>
            </a:avLst>
          </a:prstGeom>
          <a:solidFill>
            <a:srgbClr val="FFFDF8"/>
          </a:solidFill>
          <a:ln w="6350">
            <a:solidFill>
              <a:srgbClr val="DDD8CC"/>
            </a:solidFill>
            <a:prstDash val="solid"/>
          </a:ln>
        </p:spPr>
      </p:sp>
      <p:sp>
        <p:nvSpPr>
          <p:cNvPr id="5" name="Text 3"/>
          <p:cNvSpPr/>
          <p:nvPr/>
        </p:nvSpPr>
        <p:spPr>
          <a:xfrm>
            <a:off x="1022350" y="2094111"/>
            <a:ext cx="3091408"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8313B"/>
                </a:solidFill>
                <a:latin typeface="DM Sans" pitchFamily="34" charset="0"/>
                <a:ea typeface="DM Sans" pitchFamily="34" charset="-122"/>
                <a:cs typeface="DM Sans" pitchFamily="34" charset="-120"/>
              </a:rPr>
              <a:t>Dashboard</a:t>
            </a:r>
            <a:endParaRPr lang="en-US" sz="1800" dirty="0"/>
          </a:p>
        </p:txBody>
      </p:sp>
      <p:sp>
        <p:nvSpPr>
          <p:cNvPr id="6" name="Text 4"/>
          <p:cNvSpPr/>
          <p:nvPr/>
        </p:nvSpPr>
        <p:spPr>
          <a:xfrm>
            <a:off x="1022350" y="2444552"/>
            <a:ext cx="3091408"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57"/>
                </a:solidFill>
                <a:latin typeface="DM Sans" pitchFamily="34" charset="0"/>
                <a:ea typeface="DM Sans" pitchFamily="34" charset="-122"/>
                <a:cs typeface="DM Sans" pitchFamily="34" charset="-120"/>
              </a:rPr>
              <a:t>Score with a band: Strong 75+, Moderate 50–74, At risk below 50.</a:t>
            </a:r>
            <a:endParaRPr lang="en-US" sz="1300" dirty="0"/>
          </a:p>
        </p:txBody>
      </p:sp>
      <p:sp>
        <p:nvSpPr>
          <p:cNvPr id="7" name="Shape 5"/>
          <p:cNvSpPr/>
          <p:nvPr/>
        </p:nvSpPr>
        <p:spPr>
          <a:xfrm>
            <a:off x="4388842" y="1887736"/>
            <a:ext cx="3414216" cy="1225352"/>
          </a:xfrm>
          <a:prstGeom prst="roundRect">
            <a:avLst>
              <a:gd name="adj" fmla="val 8032"/>
            </a:avLst>
          </a:prstGeom>
          <a:solidFill>
            <a:srgbClr val="FFFDF8"/>
          </a:solidFill>
          <a:ln w="6350">
            <a:solidFill>
              <a:srgbClr val="DDD8CC"/>
            </a:solidFill>
            <a:prstDash val="solid"/>
          </a:ln>
        </p:spPr>
      </p:sp>
      <p:sp>
        <p:nvSpPr>
          <p:cNvPr id="8" name="Text 6"/>
          <p:cNvSpPr/>
          <p:nvPr/>
        </p:nvSpPr>
        <p:spPr>
          <a:xfrm>
            <a:off x="4595217" y="2094111"/>
            <a:ext cx="3091510"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8313B"/>
                </a:solidFill>
                <a:latin typeface="DM Sans" pitchFamily="34" charset="0"/>
                <a:ea typeface="DM Sans" pitchFamily="34" charset="-122"/>
                <a:cs typeface="DM Sans" pitchFamily="34" charset="-120"/>
              </a:rPr>
              <a:t>Check-in</a:t>
            </a:r>
            <a:endParaRPr lang="en-US" sz="1800" dirty="0"/>
          </a:p>
        </p:txBody>
      </p:sp>
      <p:sp>
        <p:nvSpPr>
          <p:cNvPr id="9" name="Text 7"/>
          <p:cNvSpPr/>
          <p:nvPr/>
        </p:nvSpPr>
        <p:spPr>
          <a:xfrm>
            <a:off x="4595217" y="2444552"/>
            <a:ext cx="3091510" cy="487561"/>
          </a:xfrm>
          <a:prstGeom prst="rect">
            <a:avLst/>
          </a:prstGeom>
          <a:noFill/>
          <a:ln/>
        </p:spPr>
        <p:txBody>
          <a:bodyPr wrap="square" lIns="0" tIns="0" rIns="0" bIns="0" rtlCol="0" anchor="t">
            <a:normAutofit/>
          </a:bodyPr>
          <a:lstStyle/>
          <a:p>
            <a:pPr algn="l" indent="0" marL="0">
              <a:lnSpc>
                <a:spcPts val="1820"/>
              </a:lnSpc>
              <a:buNone/>
            </a:pPr>
            <a:r>
              <a:rPr lang="en-US" sz="1500" dirty="0">
                <a:solidFill>
                  <a:srgbClr val="4A5557"/>
                </a:solidFill>
                <a:latin typeface="DM Sans" pitchFamily="34" charset="0"/>
                <a:ea typeface="DM Sans" pitchFamily="34" charset="-122"/>
                <a:cs typeface="DM Sans" pitchFamily="34" charset="-120"/>
              </a:rPr>
              <a:t>Add or update a month within the past two years.</a:t>
            </a:r>
            <a:endParaRPr lang="en-US" sz="1300" dirty="0"/>
          </a:p>
        </p:txBody>
      </p:sp>
      <p:sp>
        <p:nvSpPr>
          <p:cNvPr id="10" name="Shape 8"/>
          <p:cNvSpPr/>
          <p:nvPr/>
        </p:nvSpPr>
        <p:spPr>
          <a:xfrm>
            <a:off x="7961809" y="1887736"/>
            <a:ext cx="3414216" cy="1225352"/>
          </a:xfrm>
          <a:prstGeom prst="roundRect">
            <a:avLst>
              <a:gd name="adj" fmla="val 8032"/>
            </a:avLst>
          </a:prstGeom>
          <a:solidFill>
            <a:srgbClr val="FFFDF8"/>
          </a:solidFill>
          <a:ln w="6350">
            <a:solidFill>
              <a:srgbClr val="DDD8CC"/>
            </a:solidFill>
            <a:prstDash val="solid"/>
          </a:ln>
        </p:spPr>
      </p:sp>
      <p:sp>
        <p:nvSpPr>
          <p:cNvPr id="11" name="Text 9"/>
          <p:cNvSpPr/>
          <p:nvPr/>
        </p:nvSpPr>
        <p:spPr>
          <a:xfrm>
            <a:off x="8168184" y="2094111"/>
            <a:ext cx="3091510"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8313B"/>
                </a:solidFill>
                <a:latin typeface="DM Sans" pitchFamily="34" charset="0"/>
                <a:ea typeface="DM Sans" pitchFamily="34" charset="-122"/>
                <a:cs typeface="DM Sans" pitchFamily="34" charset="-120"/>
              </a:rPr>
              <a:t>What-if</a:t>
            </a:r>
            <a:endParaRPr lang="en-US" sz="1800" dirty="0"/>
          </a:p>
        </p:txBody>
      </p:sp>
      <p:sp>
        <p:nvSpPr>
          <p:cNvPr id="12" name="Text 10"/>
          <p:cNvSpPr/>
          <p:nvPr/>
        </p:nvSpPr>
        <p:spPr>
          <a:xfrm>
            <a:off x="8168184" y="2444552"/>
            <a:ext cx="3091510"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57"/>
                </a:solidFill>
                <a:latin typeface="DM Sans" pitchFamily="34" charset="0"/>
                <a:ea typeface="DM Sans" pitchFamily="34" charset="-122"/>
                <a:cs typeface="DM Sans" pitchFamily="34" charset="-120"/>
              </a:rPr>
              <a:t>Try temporary changes without touching saved data.</a:t>
            </a:r>
            <a:endParaRPr lang="en-US" sz="1300" dirty="0"/>
          </a:p>
        </p:txBody>
      </p:sp>
      <p:sp>
        <p:nvSpPr>
          <p:cNvPr id="13" name="Shape 11"/>
          <p:cNvSpPr/>
          <p:nvPr/>
        </p:nvSpPr>
        <p:spPr>
          <a:xfrm>
            <a:off x="815975" y="3271838"/>
            <a:ext cx="3414117" cy="1225352"/>
          </a:xfrm>
          <a:prstGeom prst="roundRect">
            <a:avLst>
              <a:gd name="adj" fmla="val 8032"/>
            </a:avLst>
          </a:prstGeom>
          <a:solidFill>
            <a:srgbClr val="FFFDF8"/>
          </a:solidFill>
          <a:ln w="6350">
            <a:solidFill>
              <a:srgbClr val="DDD8CC"/>
            </a:solidFill>
            <a:prstDash val="solid"/>
          </a:ln>
        </p:spPr>
      </p:sp>
      <p:sp>
        <p:nvSpPr>
          <p:cNvPr id="14" name="Text 12"/>
          <p:cNvSpPr/>
          <p:nvPr/>
        </p:nvSpPr>
        <p:spPr>
          <a:xfrm>
            <a:off x="1022350" y="3478213"/>
            <a:ext cx="3091408"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8313B"/>
                </a:solidFill>
                <a:latin typeface="DM Sans" pitchFamily="34" charset="0"/>
                <a:ea typeface="DM Sans" pitchFamily="34" charset="-122"/>
                <a:cs typeface="DM Sans" pitchFamily="34" charset="-120"/>
              </a:rPr>
              <a:t>Goals</a:t>
            </a:r>
            <a:endParaRPr lang="en-US" sz="1800" dirty="0"/>
          </a:p>
        </p:txBody>
      </p:sp>
      <p:sp>
        <p:nvSpPr>
          <p:cNvPr id="15" name="Text 13"/>
          <p:cNvSpPr/>
          <p:nvPr/>
        </p:nvSpPr>
        <p:spPr>
          <a:xfrm>
            <a:off x="1022350" y="3828653"/>
            <a:ext cx="3091408"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57"/>
                </a:solidFill>
                <a:latin typeface="DM Sans" pitchFamily="34" charset="0"/>
                <a:ea typeface="DM Sans" pitchFamily="34" charset="-122"/>
                <a:cs typeface="DM Sans" pitchFamily="34" charset="-120"/>
              </a:rPr>
              <a:t>Savings goals with a “save about ₹X per month” hint.</a:t>
            </a:r>
            <a:endParaRPr lang="en-US" sz="1300" dirty="0"/>
          </a:p>
        </p:txBody>
      </p:sp>
      <p:sp>
        <p:nvSpPr>
          <p:cNvPr id="16" name="Shape 14"/>
          <p:cNvSpPr/>
          <p:nvPr/>
        </p:nvSpPr>
        <p:spPr>
          <a:xfrm>
            <a:off x="4388842" y="3271838"/>
            <a:ext cx="3414216" cy="1225352"/>
          </a:xfrm>
          <a:prstGeom prst="roundRect">
            <a:avLst>
              <a:gd name="adj" fmla="val 8032"/>
            </a:avLst>
          </a:prstGeom>
          <a:solidFill>
            <a:srgbClr val="FFFDF8"/>
          </a:solidFill>
          <a:ln w="6350">
            <a:solidFill>
              <a:srgbClr val="DDD8CC"/>
            </a:solidFill>
            <a:prstDash val="solid"/>
          </a:ln>
        </p:spPr>
      </p:sp>
      <p:sp>
        <p:nvSpPr>
          <p:cNvPr id="17" name="Text 15"/>
          <p:cNvSpPr/>
          <p:nvPr/>
        </p:nvSpPr>
        <p:spPr>
          <a:xfrm>
            <a:off x="4595217" y="3478213"/>
            <a:ext cx="3091510"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8313B"/>
                </a:solidFill>
                <a:latin typeface="DM Sans" pitchFamily="34" charset="0"/>
                <a:ea typeface="DM Sans" pitchFamily="34" charset="-122"/>
                <a:cs typeface="DM Sans" pitchFamily="34" charset="-120"/>
              </a:rPr>
              <a:t>History</a:t>
            </a:r>
            <a:endParaRPr lang="en-US" sz="1800" dirty="0"/>
          </a:p>
        </p:txBody>
      </p:sp>
      <p:sp>
        <p:nvSpPr>
          <p:cNvPr id="18" name="Text 16"/>
          <p:cNvSpPr/>
          <p:nvPr/>
        </p:nvSpPr>
        <p:spPr>
          <a:xfrm>
            <a:off x="4595217" y="3828653"/>
            <a:ext cx="3091510"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57"/>
                </a:solidFill>
                <a:latin typeface="DM Sans" pitchFamily="34" charset="0"/>
                <a:ea typeface="DM Sans" pitchFamily="34" charset="-122"/>
                <a:cs typeface="DM Sans" pitchFamily="34" charset="-120"/>
              </a:rPr>
              <a:t>Score chart, month comparisons and CSV download.</a:t>
            </a:r>
            <a:endParaRPr lang="en-US" sz="1300" dirty="0"/>
          </a:p>
        </p:txBody>
      </p:sp>
      <p:sp>
        <p:nvSpPr>
          <p:cNvPr id="19" name="Shape 17"/>
          <p:cNvSpPr/>
          <p:nvPr/>
        </p:nvSpPr>
        <p:spPr>
          <a:xfrm>
            <a:off x="7961809" y="3271838"/>
            <a:ext cx="3414216" cy="1225352"/>
          </a:xfrm>
          <a:prstGeom prst="roundRect">
            <a:avLst>
              <a:gd name="adj" fmla="val 8032"/>
            </a:avLst>
          </a:prstGeom>
          <a:solidFill>
            <a:srgbClr val="FFFDF8"/>
          </a:solidFill>
          <a:ln w="6350">
            <a:solidFill>
              <a:srgbClr val="DDD8CC"/>
            </a:solidFill>
            <a:prstDash val="solid"/>
          </a:ln>
        </p:spPr>
      </p:sp>
      <p:sp>
        <p:nvSpPr>
          <p:cNvPr id="20" name="Text 18"/>
          <p:cNvSpPr/>
          <p:nvPr/>
        </p:nvSpPr>
        <p:spPr>
          <a:xfrm>
            <a:off x="8168184" y="3478213"/>
            <a:ext cx="3091510" cy="299641"/>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18313B"/>
                </a:solidFill>
                <a:latin typeface="DM Sans" pitchFamily="34" charset="0"/>
                <a:ea typeface="DM Sans" pitchFamily="34" charset="-122"/>
                <a:cs typeface="DM Sans" pitchFamily="34" charset="-120"/>
              </a:rPr>
              <a:t>Guide</a:t>
            </a:r>
            <a:endParaRPr lang="en-US" sz="1800" dirty="0"/>
          </a:p>
        </p:txBody>
      </p:sp>
      <p:sp>
        <p:nvSpPr>
          <p:cNvPr id="21" name="Text 19"/>
          <p:cNvSpPr/>
          <p:nvPr/>
        </p:nvSpPr>
        <p:spPr>
          <a:xfrm>
            <a:off x="8168184" y="3828653"/>
            <a:ext cx="3091510" cy="487561"/>
          </a:xfrm>
          <a:prstGeom prst="rect">
            <a:avLst/>
          </a:prstGeom>
          <a:noFill/>
          <a:ln/>
        </p:spPr>
        <p:txBody>
          <a:bodyPr wrap="square" lIns="0" tIns="0" rIns="0" bIns="0" rtlCol="0" anchor="t">
            <a:normAutofit/>
          </a:bodyPr>
          <a:lstStyle/>
          <a:p>
            <a:pPr algn="l" indent="0" marL="0">
              <a:lnSpc>
                <a:spcPts val="1820"/>
              </a:lnSpc>
              <a:buNone/>
            </a:pPr>
            <a:r>
              <a:rPr lang="en-US" sz="1500" dirty="0">
                <a:solidFill>
                  <a:srgbClr val="4A5557"/>
                </a:solidFill>
                <a:latin typeface="DM Sans" pitchFamily="34" charset="0"/>
                <a:ea typeface="DM Sans" pitchFamily="34" charset="-122"/>
                <a:cs typeface="DM Sans" pitchFamily="34" charset="-120"/>
              </a:rPr>
              <a:t>Usage guide, scoring method and limitations.</a:t>
            </a:r>
            <a:endParaRPr lang="en-US" sz="1300" dirty="0"/>
          </a:p>
        </p:txBody>
      </p:sp>
      <p:sp>
        <p:nvSpPr>
          <p:cNvPr id="22" name="Text 20"/>
          <p:cNvSpPr/>
          <p:nvPr/>
        </p:nvSpPr>
        <p:spPr>
          <a:xfrm>
            <a:off x="812800" y="6238280"/>
            <a:ext cx="39243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2665F"/>
                </a:solidFill>
                <a:latin typeface="DM Sans" pitchFamily="34" charset="0"/>
                <a:ea typeface="DM Sans" pitchFamily="34" charset="-122"/>
                <a:cs typeface="DM Sans" pitchFamily="34" charset="-120"/>
              </a:rPr>
              <a:t>Wellness Ledger</a:t>
            </a:r>
            <a:endParaRPr lang="en-US" sz="1200" dirty="0"/>
          </a:p>
        </p:txBody>
      </p:sp>
      <p:sp>
        <p:nvSpPr>
          <p:cNvPr id="23" name="Text 21"/>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2665F"/>
                </a:solidFill>
                <a:latin typeface="DM Sans" pitchFamily="34" charset="0"/>
                <a:ea typeface="DM Sans" pitchFamily="34" charset="-122"/>
                <a:cs typeface="DM Sans" pitchFamily="34" charset="-120"/>
              </a:rPr>
              <a:t>08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1E8"/>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3F6549"/>
                </a:solidFill>
                <a:latin typeface="DM Sans" pitchFamily="34" charset="0"/>
                <a:ea typeface="DM Sans" pitchFamily="34" charset="-122"/>
                <a:cs typeface="DM Sans" pitchFamily="34" charset="-120"/>
              </a:rPr>
              <a:t>SAFETY AND ETHICS</a:t>
            </a:r>
            <a:endParaRPr lang="en-US" sz="1200" dirty="0"/>
          </a:p>
        </p:txBody>
      </p:sp>
      <p:sp>
        <p:nvSpPr>
          <p:cNvPr id="3" name="Text 1"/>
          <p:cNvSpPr/>
          <p:nvPr>
            <p:ph type="title"/>
          </p:nvPr>
        </p:nvSpPr>
        <p:spPr>
          <a:xfrm>
            <a:off x="812800" y="112772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0" i="0" dirty="0">
                <a:solidFill>
                  <a:srgbClr val="18313B"/>
                </a:solidFill>
                <a:latin typeface="DM Serif Display" pitchFamily="18" charset="0"/>
                <a:ea typeface="DM Serif Display" pitchFamily="18" charset="-122"/>
                <a:cs typeface="DM Serif Display" pitchFamily="18" charset="-120"/>
              </a:rPr>
              <a:t>Guardrails and honest limits</a:t>
            </a:r>
            <a:endParaRPr lang="en-US" sz="3600" dirty="0"/>
          </a:p>
        </p:txBody>
      </p:sp>
      <p:sp>
        <p:nvSpPr>
          <p:cNvPr id="4" name="Shape 2"/>
          <p:cNvSpPr/>
          <p:nvPr/>
        </p:nvSpPr>
        <p:spPr>
          <a:xfrm>
            <a:off x="815975" y="1887736"/>
            <a:ext cx="5181600" cy="3951089"/>
          </a:xfrm>
          <a:prstGeom prst="roundRect">
            <a:avLst>
              <a:gd name="adj" fmla="val 2491"/>
            </a:avLst>
          </a:prstGeom>
          <a:solidFill>
            <a:srgbClr val="FFFDF8"/>
          </a:solidFill>
          <a:ln w="6350">
            <a:solidFill>
              <a:srgbClr val="DDD8CC"/>
            </a:solidFill>
            <a:prstDash val="solid"/>
          </a:ln>
        </p:spPr>
      </p:sp>
      <p:sp>
        <p:nvSpPr>
          <p:cNvPr id="5" name="Text 3"/>
          <p:cNvSpPr/>
          <p:nvPr/>
        </p:nvSpPr>
        <p:spPr>
          <a:xfrm>
            <a:off x="1073150" y="2144911"/>
            <a:ext cx="4807268"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3F6549"/>
                </a:solidFill>
                <a:latin typeface="DM Sans" pitchFamily="34" charset="0"/>
                <a:ea typeface="DM Sans" pitchFamily="34" charset="-122"/>
                <a:cs typeface="DM Sans" pitchFamily="34" charset="-120"/>
              </a:rPr>
              <a:t>Guardrails</a:t>
            </a:r>
            <a:endParaRPr lang="en-US" sz="2000" dirty="0"/>
          </a:p>
        </p:txBody>
      </p:sp>
      <p:sp>
        <p:nvSpPr>
          <p:cNvPr id="6" name="Text 4"/>
          <p:cNvSpPr/>
          <p:nvPr/>
        </p:nvSpPr>
        <p:spPr>
          <a:xfrm>
            <a:off x="1157732" y="2576711"/>
            <a:ext cx="4715066" cy="1518444"/>
          </a:xfrm>
          <a:prstGeom prst="rect">
            <a:avLst/>
          </a:prstGeom>
          <a:noFill/>
          <a:ln/>
        </p:spPr>
        <p:txBody>
          <a:bodyPr wrap="square" lIns="127000" tIns="76200" rIns="127000" bIns="50800" rtlCol="0" anchor="t">
            <a:normAutofit/>
          </a:bodyPr>
          <a:lstStyle/>
          <a:p>
            <a:pPr algn="l" marL="169418" indent="-169418">
              <a:lnSpc>
                <a:spcPct val="100000"/>
              </a:lnSpc>
              <a:spcBef>
                <a:spcPts val="0"/>
              </a:spcBef>
              <a:spcAft>
                <a:spcPts val="500"/>
              </a:spcAft>
              <a:buSzPct val="100000"/>
            </a:pPr>
            <a:r>
              <a:rPr sz="1200">
                <a:solidFill>
                  <a:srgbClr val="4A5557"/>
                </a:solidFill>
                <a:latin typeface="DM Sans"/>
              </a:rPr>
              <a:t>Spending above income caps the score at 49</a:t>
            </a:r>
            <a:endParaRPr lang="en-US" sz="1400" dirty="0"/>
          </a:p>
          <a:p>
            <a:pPr>
              <a:lnSpc>
                <a:spcPct val="100000"/>
              </a:lnSpc>
              <a:spcBef>
                <a:spcPts val="0"/>
              </a:spcBef>
              <a:spcAft>
                <a:spcPts val="500"/>
              </a:spcAft>
            </a:pPr>
            <a:r>
              <a:rPr sz="1200">
                <a:solidFill>
                  <a:srgbClr val="4A5557"/>
                </a:solidFill>
                <a:latin typeface="DM Sans"/>
              </a:rPr>
              <a:t>Caution message for a 12+ point model/rule-score gap</a:t>
            </a:r>
          </a:p>
          <a:p>
            <a:pPr>
              <a:lnSpc>
                <a:spcPct val="100000"/>
              </a:lnSpc>
              <a:spcBef>
                <a:spcPts val="0"/>
              </a:spcBef>
              <a:spcAft>
                <a:spcPts val="500"/>
              </a:spcAft>
            </a:pPr>
            <a:r>
              <a:rPr sz="1200">
                <a:solidFill>
                  <a:srgbClr val="4A5557"/>
                </a:solidFill>
                <a:latin typeface="DM Sans"/>
              </a:rPr>
              <a:t>Input checks; 5 failed logins trigger a 5-minute lockout*</a:t>
            </a:r>
          </a:p>
          <a:p>
            <a:pPr>
              <a:lnSpc>
                <a:spcPct val="100000"/>
              </a:lnSpc>
              <a:spcBef>
                <a:spcPts val="0"/>
              </a:spcBef>
              <a:spcAft>
                <a:spcPts val="500"/>
              </a:spcAft>
            </a:pPr>
            <a:r>
              <a:rPr sz="1200">
                <a:solidFill>
                  <a:srgbClr val="4A5557"/>
                </a:solidFill>
                <a:latin typeface="DM Sans"/>
              </a:rPr>
              <a:t>Salted PBKDF2 password hashes; optional email OTP recovery</a:t>
            </a:r>
          </a:p>
          <a:p>
            <a:pPr>
              <a:lnSpc>
                <a:spcPct val="100000"/>
              </a:lnSpc>
              <a:spcBef>
                <a:spcPts val="0"/>
              </a:spcBef>
              <a:spcAft>
                <a:spcPts val="500"/>
              </a:spcAft>
            </a:pPr>
            <a:r>
              <a:rPr sz="1200">
                <a:solidFill>
                  <a:srgbClr val="4A5557"/>
                </a:solidFill>
                <a:latin typeface="DM Sans"/>
              </a:rPr>
              <a:t>CSV export and account/data deletion</a:t>
            </a:r>
          </a:p>
        </p:txBody>
      </p:sp>
      <p:sp>
        <p:nvSpPr>
          <p:cNvPr id="7" name="Shape 5"/>
          <p:cNvSpPr/>
          <p:nvPr/>
        </p:nvSpPr>
        <p:spPr>
          <a:xfrm>
            <a:off x="6203950" y="1884561"/>
            <a:ext cx="5175250" cy="3957439"/>
          </a:xfrm>
          <a:prstGeom prst="roundRect">
            <a:avLst>
              <a:gd name="adj" fmla="val 2567"/>
            </a:avLst>
          </a:prstGeom>
          <a:solidFill>
            <a:srgbClr val="18313B"/>
          </a:solidFill>
          <a:ln/>
        </p:spPr>
      </p:sp>
      <p:sp>
        <p:nvSpPr>
          <p:cNvPr id="8" name="Text 6"/>
          <p:cNvSpPr/>
          <p:nvPr/>
        </p:nvSpPr>
        <p:spPr>
          <a:xfrm>
            <a:off x="6457950" y="2138561"/>
            <a:ext cx="4807268" cy="330200"/>
          </a:xfrm>
          <a:prstGeom prst="rect">
            <a:avLst/>
          </a:prstGeom>
          <a:noFill/>
          <a:ln/>
        </p:spPr>
        <p:txBody>
          <a:bodyPr wrap="square" lIns="0" tIns="0" rIns="0" bIns="0" rtlCol="0" anchor="t">
            <a:normAutofit/>
          </a:bodyPr>
          <a:lstStyle/>
          <a:p>
            <a:pPr algn="l" indent="0" marL="0">
              <a:lnSpc>
                <a:spcPts val="2400"/>
              </a:lnSpc>
              <a:buNone/>
            </a:pPr>
            <a:r>
              <a:rPr lang="en-US" sz="2000" b="1" dirty="0">
                <a:solidFill>
                  <a:srgbClr val="CFA859"/>
                </a:solidFill>
                <a:latin typeface="DM Sans" pitchFamily="34" charset="0"/>
                <a:ea typeface="DM Sans" pitchFamily="34" charset="-122"/>
                <a:cs typeface="DM Sans" pitchFamily="34" charset="-120"/>
              </a:rPr>
              <a:t>Limitations</a:t>
            </a:r>
            <a:endParaRPr lang="en-US" sz="2000" dirty="0"/>
          </a:p>
        </p:txBody>
      </p:sp>
      <p:sp>
        <p:nvSpPr>
          <p:cNvPr id="9" name="Text 7"/>
          <p:cNvSpPr/>
          <p:nvPr/>
        </p:nvSpPr>
        <p:spPr>
          <a:xfrm>
            <a:off x="6542532" y="2570361"/>
            <a:ext cx="4715066" cy="1518444"/>
          </a:xfrm>
          <a:prstGeom prst="rect">
            <a:avLst/>
          </a:prstGeom>
          <a:noFill/>
          <a:ln/>
        </p:spPr>
        <p:txBody>
          <a:bodyPr wrap="square" lIns="127000" tIns="76200" rIns="127000" bIns="50800" rtlCol="0" anchor="t">
            <a:normAutofit/>
          </a:bodyPr>
          <a:lstStyle/>
          <a:p>
            <a:pPr algn="l" marL="169418" indent="-169418">
              <a:lnSpc>
                <a:spcPct val="100000"/>
              </a:lnSpc>
              <a:spcBef>
                <a:spcPts val="0"/>
              </a:spcBef>
              <a:spcAft>
                <a:spcPts val="500"/>
              </a:spcAft>
              <a:buSzPct val="100000"/>
            </a:pPr>
            <a:r>
              <a:rPr sz="1100">
                <a:solidFill>
                  <a:srgbClr val="CFD6D2"/>
                </a:solidFill>
                <a:latin typeface="DM Sans"/>
              </a:rPr>
              <a:t>Synthetic labels—not real-world validation</a:t>
            </a:r>
            <a:endParaRPr lang="en-US" sz="1400" dirty="0"/>
          </a:p>
          <a:p>
            <a:pPr>
              <a:lnSpc>
                <a:spcPct val="100000"/>
              </a:lnSpc>
              <a:spcBef>
                <a:spcPts val="0"/>
              </a:spcBef>
              <a:spcAft>
                <a:spcPts val="500"/>
              </a:spcAft>
            </a:pPr>
            <a:r>
              <a:rPr sz="1100">
                <a:solidFill>
                  <a:srgbClr val="CFD6D2"/>
                </a:solidFill>
                <a:latin typeface="DM Sans"/>
              </a:rPr>
              <a:t>Educational prototype; not financial advice or for credit/lending</a:t>
            </a:r>
          </a:p>
          <a:p>
            <a:pPr>
              <a:lnSpc>
                <a:spcPct val="100000"/>
              </a:lnSpc>
              <a:spcBef>
                <a:spcPts val="0"/>
              </a:spcBef>
              <a:spcAft>
                <a:spcPts val="500"/>
              </a:spcAft>
            </a:pPr>
            <a:r>
              <a:rPr sz="1100">
                <a:solidFill>
                  <a:srgbClr val="CFD6D2"/>
                </a:solidFill>
                <a:latin typeface="DM Sans"/>
              </a:rPr>
              <a:t>Signup does not verify Gmail ownership</a:t>
            </a:r>
          </a:p>
          <a:p>
            <a:pPr>
              <a:lnSpc>
                <a:spcPct val="100000"/>
              </a:lnSpc>
              <a:spcBef>
                <a:spcPts val="0"/>
              </a:spcBef>
              <a:spcAft>
                <a:spcPts val="500"/>
              </a:spcAft>
            </a:pPr>
            <a:r>
              <a:rPr sz="1100">
                <a:solidFill>
                  <a:srgbClr val="CFD6D2"/>
                </a:solidFill>
                <a:latin typeface="DM Sans"/>
              </a:rPr>
              <a:t>Email recovery requires Gmail app-password configuration</a:t>
            </a:r>
          </a:p>
          <a:p>
            <a:pPr>
              <a:lnSpc>
                <a:spcPct val="100000"/>
              </a:lnSpc>
              <a:spcBef>
                <a:spcPts val="0"/>
              </a:spcBef>
              <a:spcAft>
                <a:spcPts val="500"/>
              </a:spcAft>
            </a:pPr>
            <a:r>
              <a:rPr sz="1100">
                <a:solidFill>
                  <a:srgbClr val="CFD6D2"/>
                </a:solidFill>
                <a:latin typeface="DM Sans"/>
              </a:rPr>
              <a:t>Local storage; *lockout state resets when the app restarts</a:t>
            </a:r>
          </a:p>
        </p:txBody>
      </p:sp>
      <p:sp>
        <p:nvSpPr>
          <p:cNvPr id="10" name="Text 8"/>
          <p:cNvSpPr/>
          <p:nvPr/>
        </p:nvSpPr>
        <p:spPr>
          <a:xfrm>
            <a:off x="812800" y="6238280"/>
            <a:ext cx="39243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2665F"/>
                </a:solidFill>
                <a:latin typeface="DM Sans" pitchFamily="34" charset="0"/>
                <a:ea typeface="DM Sans" pitchFamily="34" charset="-122"/>
                <a:cs typeface="DM Sans" pitchFamily="34" charset="-120"/>
              </a:rPr>
              <a:t>Wellness Ledger</a:t>
            </a:r>
            <a:endParaRPr lang="en-US" sz="1200" dirty="0"/>
          </a:p>
        </p:txBody>
      </p:sp>
      <p:sp>
        <p:nvSpPr>
          <p:cNvPr id="11" name="Text 9"/>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62665F"/>
                </a:solidFill>
                <a:latin typeface="DM Sans" pitchFamily="34" charset="0"/>
                <a:ea typeface="DM Sans" pitchFamily="34" charset="-122"/>
                <a:cs typeface="DM Sans" pitchFamily="34" charset="-120"/>
              </a:rPr>
              <a:t>09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8313B"/>
        </a:solidFill>
      </p:bgPr>
    </p:bg>
    <p:spTree>
      <p:nvGrpSpPr>
        <p:cNvPr id="1" name=""/>
        <p:cNvGrpSpPr/>
        <p:nvPr/>
      </p:nvGrpSpPr>
      <p:grpSpPr>
        <a:xfrm>
          <a:off x="0" y="0"/>
          <a:ext cx="0" cy="0"/>
          <a:chOff x="0" y="0"/>
          <a:chExt cx="0" cy="0"/>
        </a:xfrm>
      </p:grpSpPr>
      <p:sp>
        <p:nvSpPr>
          <p:cNvPr id="2" name="Text 0"/>
          <p:cNvSpPr/>
          <p:nvPr/>
        </p:nvSpPr>
        <p:spPr>
          <a:xfrm>
            <a:off x="812800" y="6238280"/>
            <a:ext cx="39243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B6B8"/>
                </a:solidFill>
                <a:latin typeface="DM Sans" pitchFamily="34" charset="0"/>
                <a:ea typeface="DM Sans" pitchFamily="34" charset="-122"/>
                <a:cs typeface="DM Sans" pitchFamily="34" charset="-120"/>
              </a:rPr>
              <a:t>Wellness Ledger</a:t>
            </a:r>
            <a:endParaRPr lang="en-US" sz="1200" dirty="0"/>
          </a:p>
        </p:txBody>
      </p:sp>
      <p:sp>
        <p:nvSpPr>
          <p:cNvPr id="3" name="Text 1"/>
          <p:cNvSpPr/>
          <p:nvPr/>
        </p:nvSpPr>
        <p:spPr>
          <a:xfrm>
            <a:off x="10058400" y="6238280"/>
            <a:ext cx="1320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A9B6B8"/>
                </a:solidFill>
                <a:latin typeface="DM Sans" pitchFamily="34" charset="0"/>
                <a:ea typeface="DM Sans" pitchFamily="34" charset="-122"/>
                <a:cs typeface="DM Sans" pitchFamily="34" charset="-120"/>
              </a:rPr>
              <a:t>10</a:t>
            </a:r>
            <a:endParaRPr lang="en-US" sz="1200" dirty="0"/>
          </a:p>
        </p:txBody>
      </p:sp>
      <p:sp>
        <p:nvSpPr>
          <p:cNvPr id="4" name="Text 2"/>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b="1" spc="150" kern="0" dirty="0">
                <a:solidFill>
                  <a:srgbClr val="CFA859"/>
                </a:solidFill>
                <a:latin typeface="DM Sans" pitchFamily="34" charset="0"/>
                <a:ea typeface="DM Sans" pitchFamily="34" charset="-122"/>
                <a:cs typeface="DM Sans" pitchFamily="34" charset="-120"/>
              </a:rPr>
              <a:t>FUTURE WORK AND CONCLUSION</a:t>
            </a:r>
            <a:endParaRPr lang="en-US" sz="1200" dirty="0"/>
          </a:p>
        </p:txBody>
      </p:sp>
      <p:sp>
        <p:nvSpPr>
          <p:cNvPr id="5" name="Text 3"/>
          <p:cNvSpPr/>
          <p:nvPr>
            <p:ph type="title"/>
          </p:nvPr>
        </p:nvSpPr>
        <p:spPr>
          <a:xfrm>
            <a:off x="812800" y="112772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0" i="0" dirty="0">
                <a:solidFill>
                  <a:srgbClr val="F5F1E8"/>
                </a:solidFill>
                <a:latin typeface="DM Serif Display" pitchFamily="18" charset="0"/>
                <a:ea typeface="DM Serif Display" pitchFamily="18" charset="-122"/>
                <a:cs typeface="DM Serif Display" pitchFamily="18" charset="-120"/>
              </a:rPr>
              <a:t>From a transparent prototype to real validation</a:t>
            </a:r>
            <a:endParaRPr lang="en-US" sz="3600" dirty="0"/>
          </a:p>
        </p:txBody>
      </p:sp>
      <p:sp>
        <p:nvSpPr>
          <p:cNvPr id="6" name="Shape 4"/>
          <p:cNvSpPr/>
          <p:nvPr/>
        </p:nvSpPr>
        <p:spPr>
          <a:xfrm>
            <a:off x="812800" y="1936750"/>
            <a:ext cx="10566400" cy="899021"/>
          </a:xfrm>
          <a:prstGeom prst="roundRect">
            <a:avLst>
              <a:gd name="adj" fmla="val 11301"/>
            </a:avLst>
          </a:prstGeom>
          <a:solidFill>
            <a:srgbClr val="24424D"/>
          </a:solidFill>
          <a:ln/>
        </p:spPr>
      </p:sp>
      <p:sp>
        <p:nvSpPr>
          <p:cNvPr id="7" name="Text 5"/>
          <p:cNvSpPr/>
          <p:nvPr/>
        </p:nvSpPr>
        <p:spPr>
          <a:xfrm>
            <a:off x="1041400" y="2139950"/>
            <a:ext cx="10412476"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CFA859"/>
                </a:solidFill>
                <a:latin typeface="DM Sans" pitchFamily="34" charset="0"/>
                <a:ea typeface="DM Sans" pitchFamily="34" charset="-122"/>
                <a:cs typeface="DM Sans" pitchFamily="34" charset="-120"/>
              </a:rPr>
              <a:t>Next step</a:t>
            </a:r>
            <a:endParaRPr lang="en-US" sz="1600" dirty="0"/>
          </a:p>
        </p:txBody>
      </p:sp>
      <p:sp>
        <p:nvSpPr>
          <p:cNvPr id="8" name="Text 6"/>
          <p:cNvSpPr/>
          <p:nvPr/>
        </p:nvSpPr>
        <p:spPr>
          <a:xfrm>
            <a:off x="1041400" y="2383730"/>
            <a:ext cx="10412476" cy="274241"/>
          </a:xfrm>
          <a:prstGeom prst="rect">
            <a:avLst/>
          </a:prstGeom>
          <a:noFill/>
          <a:ln/>
        </p:spPr>
        <p:txBody>
          <a:bodyPr wrap="square" lIns="0" tIns="0" rIns="0" bIns="0" rtlCol="0" anchor="t">
            <a:normAutofit/>
          </a:bodyPr>
          <a:lstStyle/>
          <a:p>
            <a:pPr algn="l" indent="0" marL="0">
              <a:lnSpc>
                <a:spcPts val="1960"/>
              </a:lnSpc>
              <a:buNone/>
            </a:pPr>
            <a:r>
              <a:rPr lang="en-US" sz="1500" dirty="0">
                <a:solidFill>
                  <a:srgbClr val="F5F1E8"/>
                </a:solidFill>
                <a:latin typeface="DM Sans" pitchFamily="34" charset="0"/>
                <a:ea typeface="DM Sans" pitchFamily="34" charset="-122"/>
                <a:cs typeface="DM Sans" pitchFamily="34" charset="-120"/>
              </a:rPr>
              <a:t>Investigate suitable real survey data (e.g., Global Findex India, subject to access and label fit) and validate against real outcomes.</a:t>
            </a:r>
            <a:endParaRPr lang="en-US" sz="1400" dirty="0"/>
          </a:p>
        </p:txBody>
      </p:sp>
      <p:sp>
        <p:nvSpPr>
          <p:cNvPr id="9" name="Shape 7"/>
          <p:cNvSpPr/>
          <p:nvPr/>
        </p:nvSpPr>
        <p:spPr>
          <a:xfrm>
            <a:off x="812800" y="2988171"/>
            <a:ext cx="10566400" cy="899021"/>
          </a:xfrm>
          <a:prstGeom prst="roundRect">
            <a:avLst>
              <a:gd name="adj" fmla="val 11301"/>
            </a:avLst>
          </a:prstGeom>
          <a:solidFill>
            <a:srgbClr val="24424D"/>
          </a:solidFill>
          <a:ln/>
        </p:spPr>
      </p:sp>
      <p:sp>
        <p:nvSpPr>
          <p:cNvPr id="10" name="Text 8"/>
          <p:cNvSpPr/>
          <p:nvPr/>
        </p:nvSpPr>
        <p:spPr>
          <a:xfrm>
            <a:off x="1041400" y="3191371"/>
            <a:ext cx="10412476"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CFA859"/>
                </a:solidFill>
                <a:latin typeface="DM Sans" pitchFamily="34" charset="0"/>
                <a:ea typeface="DM Sans" pitchFamily="34" charset="-122"/>
                <a:cs typeface="DM Sans" pitchFamily="34" charset="-120"/>
              </a:rPr>
              <a:t>Link to research</a:t>
            </a:r>
            <a:endParaRPr lang="en-US" sz="1600" dirty="0"/>
          </a:p>
        </p:txBody>
      </p:sp>
      <p:sp>
        <p:nvSpPr>
          <p:cNvPr id="11" name="Text 9"/>
          <p:cNvSpPr/>
          <p:nvPr/>
        </p:nvSpPr>
        <p:spPr>
          <a:xfrm>
            <a:off x="1041400" y="3435152"/>
            <a:ext cx="10412476" cy="274241"/>
          </a:xfrm>
          <a:prstGeom prst="rect">
            <a:avLst/>
          </a:prstGeom>
          <a:noFill/>
          <a:ln/>
        </p:spPr>
        <p:txBody>
          <a:bodyPr wrap="square" lIns="0" tIns="0" rIns="0" bIns="0" rtlCol="0" anchor="t">
            <a:normAutofit/>
          </a:bodyPr>
          <a:lstStyle/>
          <a:p>
            <a:pPr algn="l" indent="0" marL="0">
              <a:lnSpc>
                <a:spcPts val="1960"/>
              </a:lnSpc>
              <a:buNone/>
            </a:pPr>
            <a:r>
              <a:rPr lang="en-US" sz="1500" dirty="0">
                <a:solidFill>
                  <a:srgbClr val="F5F1E8"/>
                </a:solidFill>
                <a:latin typeface="DM Sans" pitchFamily="34" charset="0"/>
                <a:ea typeface="DM Sans" pitchFamily="34" charset="-122"/>
                <a:cs typeface="DM Sans" pitchFamily="34" charset="-120"/>
              </a:rPr>
              <a:t>Connect the scoring assumptions to recent financial-vulnerability research and test them empirically.</a:t>
            </a:r>
            <a:endParaRPr lang="en-US" sz="1400" dirty="0"/>
          </a:p>
        </p:txBody>
      </p:sp>
      <p:sp>
        <p:nvSpPr>
          <p:cNvPr id="12" name="Shape 10"/>
          <p:cNvSpPr/>
          <p:nvPr/>
        </p:nvSpPr>
        <p:spPr>
          <a:xfrm>
            <a:off x="812800" y="4039592"/>
            <a:ext cx="10566400" cy="899021"/>
          </a:xfrm>
          <a:prstGeom prst="roundRect">
            <a:avLst>
              <a:gd name="adj" fmla="val 11301"/>
            </a:avLst>
          </a:prstGeom>
          <a:solidFill>
            <a:srgbClr val="24424D"/>
          </a:solidFill>
          <a:ln/>
        </p:spPr>
      </p:sp>
      <p:sp>
        <p:nvSpPr>
          <p:cNvPr id="13" name="Text 11"/>
          <p:cNvSpPr/>
          <p:nvPr/>
        </p:nvSpPr>
        <p:spPr>
          <a:xfrm>
            <a:off x="1041400" y="4242792"/>
            <a:ext cx="10412476" cy="269180"/>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CFA859"/>
                </a:solidFill>
                <a:latin typeface="DM Sans" pitchFamily="34" charset="0"/>
                <a:ea typeface="DM Sans" pitchFamily="34" charset="-122"/>
                <a:cs typeface="DM Sans" pitchFamily="34" charset="-120"/>
              </a:rPr>
              <a:t>Future features</a:t>
            </a:r>
            <a:endParaRPr lang="en-US" sz="1600" dirty="0"/>
          </a:p>
        </p:txBody>
      </p:sp>
      <p:sp>
        <p:nvSpPr>
          <p:cNvPr id="14" name="Text 12"/>
          <p:cNvSpPr/>
          <p:nvPr/>
        </p:nvSpPr>
        <p:spPr>
          <a:xfrm>
            <a:off x="1041400" y="4486573"/>
            <a:ext cx="10412476"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5F1E8"/>
                </a:solidFill>
                <a:latin typeface="DM Sans" pitchFamily="34" charset="0"/>
                <a:ea typeface="DM Sans" pitchFamily="34" charset="-122"/>
                <a:cs typeface="DM Sans" pitchFamily="34" charset="-120"/>
              </a:rPr>
              <a:t>Bank or UPI statement import, multi-language support, a mobile app.</a:t>
            </a:r>
            <a:endParaRPr lang="en-US" sz="1400" dirty="0"/>
          </a:p>
        </p:txBody>
      </p:sp>
    </p:spTree>
  </p:cSld>
  <p:clrMapOvr>
    <a:masterClrMapping/>
  </p:clrMapOvr>
</p:sld>
</file>

<file path=ppt/theme/theme1.xml><?xml version="1.0" encoding="utf-8"?>
<a:theme xmlns:a="http://schemas.openxmlformats.org/drawingml/2006/main" name="Wellness Ledger">
  <a:themeElements>
    <a:clrScheme name="Wellness Ledger">
      <a:dk1>
        <a:srgbClr val="18313B"/>
      </a:dk1>
      <a:lt1>
        <a:srgbClr val="F5F1E8"/>
      </a:lt1>
      <a:dk2>
        <a:srgbClr val="4F6166"/>
      </a:dk2>
      <a:lt2>
        <a:srgbClr val="DFDED7"/>
      </a:lt2>
      <a:accent1>
        <a:srgbClr val="CFA859"/>
      </a:accent1>
      <a:accent2>
        <a:srgbClr val="4A5557"/>
      </a:accent2>
      <a:accent3>
        <a:srgbClr val="3F6549"/>
      </a:accent3>
      <a:accent4>
        <a:srgbClr val="CFD6D2"/>
      </a:accent4>
      <a:accent5>
        <a:srgbClr val="62665F"/>
      </a:accent5>
      <a:accent6>
        <a:srgbClr val="A9B6B8"/>
      </a:accent6>
      <a:hlink>
        <a:srgbClr val="0563C1"/>
      </a:hlink>
      <a:folHlink>
        <a:srgbClr val="954F72"/>
      </a:folHlink>
    </a:clrScheme>
    <a:fontScheme name="Wellness Ledger">
      <a:majorFont>
        <a:latin typeface="DM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DM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Wellness Ledger</dc:title>
  <dc:subject/>
  <dc:description>The font files embedded in this presentation (stored inside it under ppt/fonts/) are files Google Fonts served when the presentation was exported, unpacked from WOFF2 to TrueType and wrapped as Embedded OpenType, the form PowerPoint reads. A file that named another cut of its family, unless it reserves that name, was also changed where it could be, so that PowerPoint matches it to this presentation’s text: its family and style names and the weight and style it declares were rewritten, and any digital signature, which no longer matched, was removed. Google Fonts serves each family in parts, one file per range of characters, so these may not be a family’s complete files. Each family’s copyright lines and license follow, and each family stays under its own license; if you pass this file on, keep these notices with it.
DM Sans
Copyright 2014 The DM Sans Project Authors (https://github.com/googlefonts/dm-fonts)
This Font Software is licensed under the SIL Open Font License, Version 1.1.
This license is copied below, and is also available with a FAQ at:
https://scripts.sil.org/OFL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dc:description>
  <dc:creator/>
  <cp:lastModifiedBy/>
  <cp:revision>1</cp:revision>
  <dcterms:created xsi:type="dcterms:W3CDTF">2026-10-24T02:51:29Z</dcterms:created>
  <dcterms:modified xsi:type="dcterms:W3CDTF">2026-10-24T02:51:29Z</dcterms:modified>
</cp:coreProperties>
</file>